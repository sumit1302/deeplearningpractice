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81" r:id="rId5"/>
    <p:sldId id="284" r:id="rId6"/>
    <p:sldId id="280" r:id="rId7"/>
    <p:sldId id="278" r:id="rId8"/>
    <p:sldId id="261" r:id="rId9"/>
    <p:sldId id="293" r:id="rId10"/>
    <p:sldId id="273" r:id="rId11"/>
    <p:sldId id="279" r:id="rId12"/>
    <p:sldId id="265" r:id="rId13"/>
    <p:sldId id="295" r:id="rId14"/>
    <p:sldId id="300" r:id="rId15"/>
    <p:sldId id="301" r:id="rId16"/>
    <p:sldId id="302" r:id="rId17"/>
    <p:sldId id="296" r:id="rId18"/>
    <p:sldId id="277" r:id="rId19"/>
    <p:sldId id="303" r:id="rId20"/>
    <p:sldId id="305" r:id="rId21"/>
    <p:sldId id="306" r:id="rId22"/>
    <p:sldId id="266" r:id="rId23"/>
    <p:sldId id="304"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879" autoAdjust="0"/>
  </p:normalViewPr>
  <p:slideViewPr>
    <p:cSldViewPr snapToGrid="0">
      <p:cViewPr varScale="1">
        <p:scale>
          <a:sx n="90" d="100"/>
          <a:sy n="90" d="100"/>
        </p:scale>
        <p:origin x="355" y="7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0356C8-F3B4-4DD7-B8BF-162755F10DF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2A3EE9B-655D-48EF-908B-7DE6D802FD9D}">
      <dgm:prSet/>
      <dgm:spPr/>
      <dgm:t>
        <a:bodyPr/>
        <a:lstStyle/>
        <a:p>
          <a:r>
            <a:rPr lang="en-US" dirty="0"/>
            <a:t>to create and test out a fraud detection system, using Autoencoders, specifically simple Autoencoders and Variational Autoencoders (VAE). The process used for this is anomaly detection</a:t>
          </a:r>
        </a:p>
      </dgm:t>
    </dgm:pt>
    <dgm:pt modelId="{B3ABD55D-F162-43FA-BA85-2BDC6981E03F}" type="parTrans" cxnId="{96752827-E07E-4E20-845C-0C4185DB3DBA}">
      <dgm:prSet/>
      <dgm:spPr/>
      <dgm:t>
        <a:bodyPr/>
        <a:lstStyle/>
        <a:p>
          <a:endParaRPr lang="en-US"/>
        </a:p>
      </dgm:t>
    </dgm:pt>
    <dgm:pt modelId="{D5CED279-B0FE-44DB-A47C-83DD925B89CE}" type="sibTrans" cxnId="{96752827-E07E-4E20-845C-0C4185DB3DBA}">
      <dgm:prSet/>
      <dgm:spPr/>
      <dgm:t>
        <a:bodyPr/>
        <a:lstStyle/>
        <a:p>
          <a:endParaRPr lang="en-US"/>
        </a:p>
      </dgm:t>
    </dgm:pt>
    <dgm:pt modelId="{7AAB7E97-0BF9-41FB-B866-444E286BB04B}">
      <dgm:prSet/>
      <dgm:spPr/>
      <dgm:t>
        <a:bodyPr/>
        <a:lstStyle/>
        <a:p>
          <a:r>
            <a:rPr lang="en-US" dirty="0"/>
            <a:t>Card fraud continues to be a significant threat in the banking and financial services industry, accounting for billions of dollars in loss yearly. Accurate identification of fraudulent transactions can help to mitigate financial loss and ensure consumer protection. </a:t>
          </a:r>
        </a:p>
      </dgm:t>
    </dgm:pt>
    <dgm:pt modelId="{C6A60EC7-318F-4F94-8B33-AD4F61A232DA}" type="parTrans" cxnId="{03B044BF-C126-4D32-8AC9-72DBB7CA7F31}">
      <dgm:prSet/>
      <dgm:spPr/>
      <dgm:t>
        <a:bodyPr/>
        <a:lstStyle/>
        <a:p>
          <a:endParaRPr lang="en-US"/>
        </a:p>
      </dgm:t>
    </dgm:pt>
    <dgm:pt modelId="{5A949EED-AA2F-40C0-B737-7E54C90ED76D}" type="sibTrans" cxnId="{03B044BF-C126-4D32-8AC9-72DBB7CA7F31}">
      <dgm:prSet/>
      <dgm:spPr/>
      <dgm:t>
        <a:bodyPr/>
        <a:lstStyle/>
        <a:p>
          <a:endParaRPr lang="en-US"/>
        </a:p>
      </dgm:t>
    </dgm:pt>
    <dgm:pt modelId="{83237C39-D5FF-45CD-ADBF-B055049848FE}" type="pres">
      <dgm:prSet presAssocID="{CB0356C8-F3B4-4DD7-B8BF-162755F10DFD}" presName="linear" presStyleCnt="0">
        <dgm:presLayoutVars>
          <dgm:animLvl val="lvl"/>
          <dgm:resizeHandles val="exact"/>
        </dgm:presLayoutVars>
      </dgm:prSet>
      <dgm:spPr/>
    </dgm:pt>
    <dgm:pt modelId="{48920B50-07A9-400E-A2E5-4C2872AA34F8}" type="pres">
      <dgm:prSet presAssocID="{C2A3EE9B-655D-48EF-908B-7DE6D802FD9D}" presName="parentText" presStyleLbl="node1" presStyleIdx="0" presStyleCnt="2">
        <dgm:presLayoutVars>
          <dgm:chMax val="0"/>
          <dgm:bulletEnabled val="1"/>
        </dgm:presLayoutVars>
      </dgm:prSet>
      <dgm:spPr/>
    </dgm:pt>
    <dgm:pt modelId="{25465C41-FF07-4EB4-A93E-6AF1EAD4B33C}" type="pres">
      <dgm:prSet presAssocID="{D5CED279-B0FE-44DB-A47C-83DD925B89CE}" presName="spacer" presStyleCnt="0"/>
      <dgm:spPr/>
    </dgm:pt>
    <dgm:pt modelId="{57DFEE1C-23F5-453C-9D30-FF2185F00024}" type="pres">
      <dgm:prSet presAssocID="{7AAB7E97-0BF9-41FB-B866-444E286BB04B}" presName="parentText" presStyleLbl="node1" presStyleIdx="1" presStyleCnt="2">
        <dgm:presLayoutVars>
          <dgm:chMax val="0"/>
          <dgm:bulletEnabled val="1"/>
        </dgm:presLayoutVars>
      </dgm:prSet>
      <dgm:spPr/>
    </dgm:pt>
  </dgm:ptLst>
  <dgm:cxnLst>
    <dgm:cxn modelId="{96752827-E07E-4E20-845C-0C4185DB3DBA}" srcId="{CB0356C8-F3B4-4DD7-B8BF-162755F10DFD}" destId="{C2A3EE9B-655D-48EF-908B-7DE6D802FD9D}" srcOrd="0" destOrd="0" parTransId="{B3ABD55D-F162-43FA-BA85-2BDC6981E03F}" sibTransId="{D5CED279-B0FE-44DB-A47C-83DD925B89CE}"/>
    <dgm:cxn modelId="{CD00CC4C-4890-4838-8197-D661B9153DC6}" type="presOf" srcId="{CB0356C8-F3B4-4DD7-B8BF-162755F10DFD}" destId="{83237C39-D5FF-45CD-ADBF-B055049848FE}" srcOrd="0" destOrd="0" presId="urn:microsoft.com/office/officeart/2005/8/layout/vList2"/>
    <dgm:cxn modelId="{C48EEC79-F563-4FD3-877E-25A6264CC612}" type="presOf" srcId="{7AAB7E97-0BF9-41FB-B866-444E286BB04B}" destId="{57DFEE1C-23F5-453C-9D30-FF2185F00024}" srcOrd="0" destOrd="0" presId="urn:microsoft.com/office/officeart/2005/8/layout/vList2"/>
    <dgm:cxn modelId="{03B044BF-C126-4D32-8AC9-72DBB7CA7F31}" srcId="{CB0356C8-F3B4-4DD7-B8BF-162755F10DFD}" destId="{7AAB7E97-0BF9-41FB-B866-444E286BB04B}" srcOrd="1" destOrd="0" parTransId="{C6A60EC7-318F-4F94-8B33-AD4F61A232DA}" sibTransId="{5A949EED-AA2F-40C0-B737-7E54C90ED76D}"/>
    <dgm:cxn modelId="{F76D4EFF-DDC6-4A6A-94CB-2F9D1C150153}" type="presOf" srcId="{C2A3EE9B-655D-48EF-908B-7DE6D802FD9D}" destId="{48920B50-07A9-400E-A2E5-4C2872AA34F8}" srcOrd="0" destOrd="0" presId="urn:microsoft.com/office/officeart/2005/8/layout/vList2"/>
    <dgm:cxn modelId="{E4813372-307D-4BE9-B974-715ECE7521AD}" type="presParOf" srcId="{83237C39-D5FF-45CD-ADBF-B055049848FE}" destId="{48920B50-07A9-400E-A2E5-4C2872AA34F8}" srcOrd="0" destOrd="0" presId="urn:microsoft.com/office/officeart/2005/8/layout/vList2"/>
    <dgm:cxn modelId="{3D3BFC52-0607-42F3-ACCF-D08A89278591}" type="presParOf" srcId="{83237C39-D5FF-45CD-ADBF-B055049848FE}" destId="{25465C41-FF07-4EB4-A93E-6AF1EAD4B33C}" srcOrd="1" destOrd="0" presId="urn:microsoft.com/office/officeart/2005/8/layout/vList2"/>
    <dgm:cxn modelId="{3F33444C-0ECF-470B-8984-77E2C212B5BB}" type="presParOf" srcId="{83237C39-D5FF-45CD-ADBF-B055049848FE}" destId="{57DFEE1C-23F5-453C-9D30-FF2185F00024}"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C2A432-4ACE-4840-9599-DC1A91860564}"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E9200A2F-89E4-4494-9C8B-DDE3DFE29D0D}">
      <dgm:prSet/>
      <dgm:spPr/>
      <dgm:t>
        <a:bodyPr/>
        <a:lstStyle/>
        <a:p>
          <a:r>
            <a:rPr lang="en-US" dirty="0"/>
            <a:t>It has 30 numerical features. Time, Amount, Class, Principal components V1 to V28 [obtained using PCA]</a:t>
          </a:r>
        </a:p>
      </dgm:t>
    </dgm:pt>
    <dgm:pt modelId="{E79ADCE1-BDA9-405F-9D0E-4EA7FCE79EF5}" type="parTrans" cxnId="{2CFD7593-98EF-41CA-84D9-93F288244538}">
      <dgm:prSet/>
      <dgm:spPr/>
      <dgm:t>
        <a:bodyPr/>
        <a:lstStyle/>
        <a:p>
          <a:endParaRPr lang="en-US"/>
        </a:p>
      </dgm:t>
    </dgm:pt>
    <dgm:pt modelId="{0E2F5314-A2E6-4805-B132-1DC70A19002D}" type="sibTrans" cxnId="{2CFD7593-98EF-41CA-84D9-93F288244538}">
      <dgm:prSet/>
      <dgm:spPr/>
      <dgm:t>
        <a:bodyPr/>
        <a:lstStyle/>
        <a:p>
          <a:endParaRPr lang="en-US"/>
        </a:p>
      </dgm:t>
    </dgm:pt>
    <dgm:pt modelId="{4118EB87-1ED0-4F67-9D48-67E20D441F25}">
      <dgm:prSet/>
      <dgm:spPr/>
      <dgm:t>
        <a:bodyPr/>
        <a:lstStyle/>
        <a:p>
          <a:r>
            <a:rPr lang="en-US" dirty="0"/>
            <a:t>Through our models we will be predicting the class [0 or 1] for transactions</a:t>
          </a:r>
        </a:p>
      </dgm:t>
    </dgm:pt>
    <dgm:pt modelId="{A53AC21E-C5E5-4BB1-87E7-A9DE548A8AE7}" type="parTrans" cxnId="{44117A91-9981-479F-B079-D48BE5DAC86B}">
      <dgm:prSet/>
      <dgm:spPr/>
      <dgm:t>
        <a:bodyPr/>
        <a:lstStyle/>
        <a:p>
          <a:endParaRPr lang="en-US"/>
        </a:p>
      </dgm:t>
    </dgm:pt>
    <dgm:pt modelId="{E017D12B-E618-40AD-AB5A-39D63FAD8A55}" type="sibTrans" cxnId="{44117A91-9981-479F-B079-D48BE5DAC86B}">
      <dgm:prSet/>
      <dgm:spPr/>
      <dgm:t>
        <a:bodyPr/>
        <a:lstStyle/>
        <a:p>
          <a:endParaRPr lang="en-US"/>
        </a:p>
      </dgm:t>
    </dgm:pt>
    <dgm:pt modelId="{B6249E38-CF2D-4572-9678-A0F9D05127ED}">
      <dgm:prSet/>
      <dgm:spPr/>
      <dgm:t>
        <a:bodyPr/>
        <a:lstStyle/>
        <a:p>
          <a:r>
            <a:rPr lang="en-US" dirty="0"/>
            <a:t>This dataset contains transactions made by credit cards in September 2013 by European cardholders over two days, where we have 492 frauds out of 284,807 transactions. </a:t>
          </a:r>
        </a:p>
      </dgm:t>
    </dgm:pt>
    <dgm:pt modelId="{56EB4F12-29C1-4EE3-AF02-3AB151B5DFE9}" type="sibTrans" cxnId="{F12A6D90-E839-431D-A781-B1D7B0F18117}">
      <dgm:prSet/>
      <dgm:spPr/>
      <dgm:t>
        <a:bodyPr/>
        <a:lstStyle/>
        <a:p>
          <a:endParaRPr lang="en-US"/>
        </a:p>
      </dgm:t>
    </dgm:pt>
    <dgm:pt modelId="{7F56835F-50CD-4EB8-AB4F-EC40AA4AC9AA}" type="parTrans" cxnId="{F12A6D90-E839-431D-A781-B1D7B0F18117}">
      <dgm:prSet/>
      <dgm:spPr/>
      <dgm:t>
        <a:bodyPr/>
        <a:lstStyle/>
        <a:p>
          <a:endParaRPr lang="en-US"/>
        </a:p>
      </dgm:t>
    </dgm:pt>
    <dgm:pt modelId="{75583108-6CBE-4CFA-91EA-9FE4768B25EB}" type="pres">
      <dgm:prSet presAssocID="{95C2A432-4ACE-4840-9599-DC1A91860564}" presName="diagram" presStyleCnt="0">
        <dgm:presLayoutVars>
          <dgm:chPref val="1"/>
          <dgm:dir/>
          <dgm:animOne val="branch"/>
          <dgm:animLvl val="lvl"/>
          <dgm:resizeHandles/>
        </dgm:presLayoutVars>
      </dgm:prSet>
      <dgm:spPr/>
    </dgm:pt>
    <dgm:pt modelId="{A77ABDE9-C0B6-4196-8471-B3EF81CB96B6}" type="pres">
      <dgm:prSet presAssocID="{B6249E38-CF2D-4572-9678-A0F9D05127ED}" presName="root" presStyleCnt="0"/>
      <dgm:spPr/>
    </dgm:pt>
    <dgm:pt modelId="{C3D0D550-8AFF-4253-B695-B7FADA06F4AE}" type="pres">
      <dgm:prSet presAssocID="{B6249E38-CF2D-4572-9678-A0F9D05127ED}" presName="rootComposite" presStyleCnt="0"/>
      <dgm:spPr/>
    </dgm:pt>
    <dgm:pt modelId="{D69FEF8F-96B9-490F-866B-AC4B9F28BA24}" type="pres">
      <dgm:prSet presAssocID="{B6249E38-CF2D-4572-9678-A0F9D05127ED}" presName="rootText" presStyleLbl="node1" presStyleIdx="0" presStyleCnt="1"/>
      <dgm:spPr/>
    </dgm:pt>
    <dgm:pt modelId="{EC8E21F4-C6D8-41C4-9588-A5BF2FD38202}" type="pres">
      <dgm:prSet presAssocID="{B6249E38-CF2D-4572-9678-A0F9D05127ED}" presName="rootConnector" presStyleLbl="node1" presStyleIdx="0" presStyleCnt="1"/>
      <dgm:spPr/>
    </dgm:pt>
    <dgm:pt modelId="{A27FB5CB-6F7D-482C-98DA-75AD2296C8F8}" type="pres">
      <dgm:prSet presAssocID="{B6249E38-CF2D-4572-9678-A0F9D05127ED}" presName="childShape" presStyleCnt="0"/>
      <dgm:spPr/>
    </dgm:pt>
    <dgm:pt modelId="{D91D9CCE-3D9B-46FE-BF3D-740718BE2F1A}" type="pres">
      <dgm:prSet presAssocID="{E79ADCE1-BDA9-405F-9D0E-4EA7FCE79EF5}" presName="Name13" presStyleLbl="parChTrans1D2" presStyleIdx="0" presStyleCnt="2"/>
      <dgm:spPr/>
    </dgm:pt>
    <dgm:pt modelId="{715CE592-0991-4240-99AA-24B83CD5FE68}" type="pres">
      <dgm:prSet presAssocID="{E9200A2F-89E4-4494-9C8B-DDE3DFE29D0D}" presName="childText" presStyleLbl="bgAcc1" presStyleIdx="0" presStyleCnt="2">
        <dgm:presLayoutVars>
          <dgm:bulletEnabled val="1"/>
        </dgm:presLayoutVars>
      </dgm:prSet>
      <dgm:spPr/>
    </dgm:pt>
    <dgm:pt modelId="{E9ADE844-E61D-4457-AC1C-15E4C6140BE2}" type="pres">
      <dgm:prSet presAssocID="{A53AC21E-C5E5-4BB1-87E7-A9DE548A8AE7}" presName="Name13" presStyleLbl="parChTrans1D2" presStyleIdx="1" presStyleCnt="2"/>
      <dgm:spPr/>
    </dgm:pt>
    <dgm:pt modelId="{17E84E56-9F2D-4300-9D1B-B521D824F11C}" type="pres">
      <dgm:prSet presAssocID="{4118EB87-1ED0-4F67-9D48-67E20D441F25}" presName="childText" presStyleLbl="bgAcc1" presStyleIdx="1" presStyleCnt="2">
        <dgm:presLayoutVars>
          <dgm:bulletEnabled val="1"/>
        </dgm:presLayoutVars>
      </dgm:prSet>
      <dgm:spPr/>
    </dgm:pt>
  </dgm:ptLst>
  <dgm:cxnLst>
    <dgm:cxn modelId="{AB599302-290D-4AB1-BD00-7CE33D1893EF}" type="presOf" srcId="{95C2A432-4ACE-4840-9599-DC1A91860564}" destId="{75583108-6CBE-4CFA-91EA-9FE4768B25EB}" srcOrd="0" destOrd="0" presId="urn:microsoft.com/office/officeart/2005/8/layout/hierarchy3"/>
    <dgm:cxn modelId="{D2232A0F-246B-4794-8A67-E80C02F92A82}" type="presOf" srcId="{4118EB87-1ED0-4F67-9D48-67E20D441F25}" destId="{17E84E56-9F2D-4300-9D1B-B521D824F11C}" srcOrd="0" destOrd="0" presId="urn:microsoft.com/office/officeart/2005/8/layout/hierarchy3"/>
    <dgm:cxn modelId="{47E70428-B989-41DF-BC64-EF631D998045}" type="presOf" srcId="{B6249E38-CF2D-4572-9678-A0F9D05127ED}" destId="{D69FEF8F-96B9-490F-866B-AC4B9F28BA24}" srcOrd="0" destOrd="0" presId="urn:microsoft.com/office/officeart/2005/8/layout/hierarchy3"/>
    <dgm:cxn modelId="{0267F45E-3AE4-46B6-9E55-7C7271644939}" type="presOf" srcId="{E79ADCE1-BDA9-405F-9D0E-4EA7FCE79EF5}" destId="{D91D9CCE-3D9B-46FE-BF3D-740718BE2F1A}" srcOrd="0" destOrd="0" presId="urn:microsoft.com/office/officeart/2005/8/layout/hierarchy3"/>
    <dgm:cxn modelId="{8DE08B70-1FF9-45B0-86AF-7065B3DFCEA1}" type="presOf" srcId="{A53AC21E-C5E5-4BB1-87E7-A9DE548A8AE7}" destId="{E9ADE844-E61D-4457-AC1C-15E4C6140BE2}" srcOrd="0" destOrd="0" presId="urn:microsoft.com/office/officeart/2005/8/layout/hierarchy3"/>
    <dgm:cxn modelId="{F12A6D90-E839-431D-A781-B1D7B0F18117}" srcId="{95C2A432-4ACE-4840-9599-DC1A91860564}" destId="{B6249E38-CF2D-4572-9678-A0F9D05127ED}" srcOrd="0" destOrd="0" parTransId="{7F56835F-50CD-4EB8-AB4F-EC40AA4AC9AA}" sibTransId="{56EB4F12-29C1-4EE3-AF02-3AB151B5DFE9}"/>
    <dgm:cxn modelId="{44117A91-9981-479F-B079-D48BE5DAC86B}" srcId="{B6249E38-CF2D-4572-9678-A0F9D05127ED}" destId="{4118EB87-1ED0-4F67-9D48-67E20D441F25}" srcOrd="1" destOrd="0" parTransId="{A53AC21E-C5E5-4BB1-87E7-A9DE548A8AE7}" sibTransId="{E017D12B-E618-40AD-AB5A-39D63FAD8A55}"/>
    <dgm:cxn modelId="{2CFD7593-98EF-41CA-84D9-93F288244538}" srcId="{B6249E38-CF2D-4572-9678-A0F9D05127ED}" destId="{E9200A2F-89E4-4494-9C8B-DDE3DFE29D0D}" srcOrd="0" destOrd="0" parTransId="{E79ADCE1-BDA9-405F-9D0E-4EA7FCE79EF5}" sibTransId="{0E2F5314-A2E6-4805-B132-1DC70A19002D}"/>
    <dgm:cxn modelId="{E55A4BDC-9E85-45B1-AFD1-49EC7515643D}" type="presOf" srcId="{E9200A2F-89E4-4494-9C8B-DDE3DFE29D0D}" destId="{715CE592-0991-4240-99AA-24B83CD5FE68}" srcOrd="0" destOrd="0" presId="urn:microsoft.com/office/officeart/2005/8/layout/hierarchy3"/>
    <dgm:cxn modelId="{826676EC-E113-4515-BDE8-5580CF8C8E56}" type="presOf" srcId="{B6249E38-CF2D-4572-9678-A0F9D05127ED}" destId="{EC8E21F4-C6D8-41C4-9588-A5BF2FD38202}" srcOrd="1" destOrd="0" presId="urn:microsoft.com/office/officeart/2005/8/layout/hierarchy3"/>
    <dgm:cxn modelId="{94692C04-9A44-492E-997A-CD3BC248612B}" type="presParOf" srcId="{75583108-6CBE-4CFA-91EA-9FE4768B25EB}" destId="{A77ABDE9-C0B6-4196-8471-B3EF81CB96B6}" srcOrd="0" destOrd="0" presId="urn:microsoft.com/office/officeart/2005/8/layout/hierarchy3"/>
    <dgm:cxn modelId="{B9BBF47D-EB56-4D95-8991-D3597013A2E8}" type="presParOf" srcId="{A77ABDE9-C0B6-4196-8471-B3EF81CB96B6}" destId="{C3D0D550-8AFF-4253-B695-B7FADA06F4AE}" srcOrd="0" destOrd="0" presId="urn:microsoft.com/office/officeart/2005/8/layout/hierarchy3"/>
    <dgm:cxn modelId="{BEF742A7-8DBE-4A76-88BB-9CBE7AF1DEE3}" type="presParOf" srcId="{C3D0D550-8AFF-4253-B695-B7FADA06F4AE}" destId="{D69FEF8F-96B9-490F-866B-AC4B9F28BA24}" srcOrd="0" destOrd="0" presId="urn:microsoft.com/office/officeart/2005/8/layout/hierarchy3"/>
    <dgm:cxn modelId="{7CDA5903-D300-4D7D-BE6C-9A7AD81E8C3B}" type="presParOf" srcId="{C3D0D550-8AFF-4253-B695-B7FADA06F4AE}" destId="{EC8E21F4-C6D8-41C4-9588-A5BF2FD38202}" srcOrd="1" destOrd="0" presId="urn:microsoft.com/office/officeart/2005/8/layout/hierarchy3"/>
    <dgm:cxn modelId="{136D0A57-0F24-4EE7-925A-F9585413E00F}" type="presParOf" srcId="{A77ABDE9-C0B6-4196-8471-B3EF81CB96B6}" destId="{A27FB5CB-6F7D-482C-98DA-75AD2296C8F8}" srcOrd="1" destOrd="0" presId="urn:microsoft.com/office/officeart/2005/8/layout/hierarchy3"/>
    <dgm:cxn modelId="{FD56B0EF-EF3A-4994-9155-8B5783FB538E}" type="presParOf" srcId="{A27FB5CB-6F7D-482C-98DA-75AD2296C8F8}" destId="{D91D9CCE-3D9B-46FE-BF3D-740718BE2F1A}" srcOrd="0" destOrd="0" presId="urn:microsoft.com/office/officeart/2005/8/layout/hierarchy3"/>
    <dgm:cxn modelId="{01152781-2285-4A76-82F3-F9A25C558B5E}" type="presParOf" srcId="{A27FB5CB-6F7D-482C-98DA-75AD2296C8F8}" destId="{715CE592-0991-4240-99AA-24B83CD5FE68}" srcOrd="1" destOrd="0" presId="urn:microsoft.com/office/officeart/2005/8/layout/hierarchy3"/>
    <dgm:cxn modelId="{0713EC7F-C256-4841-B4B2-C5440D5C1DA0}" type="presParOf" srcId="{A27FB5CB-6F7D-482C-98DA-75AD2296C8F8}" destId="{E9ADE844-E61D-4457-AC1C-15E4C6140BE2}" srcOrd="2" destOrd="0" presId="urn:microsoft.com/office/officeart/2005/8/layout/hierarchy3"/>
    <dgm:cxn modelId="{A8005DBD-C772-4204-9161-66E5C6A1282B}" type="presParOf" srcId="{A27FB5CB-6F7D-482C-98DA-75AD2296C8F8}" destId="{17E84E56-9F2D-4300-9D1B-B521D824F11C}" srcOrd="3"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3236CC-1FC8-49EE-9D16-AACA210C4E2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4ED9E45-6918-4396-913B-CFC76A992D71}">
      <dgm:prSet/>
      <dgm:spPr/>
      <dgm:t>
        <a:bodyPr/>
        <a:lstStyle/>
        <a:p>
          <a:r>
            <a:rPr lang="en-US" b="1" i="0" baseline="0" dirty="0"/>
            <a:t>WandB Setup:</a:t>
          </a:r>
          <a:r>
            <a:rPr lang="en-US" b="0" i="0" baseline="0" dirty="0"/>
            <a:t> Track experiment parameters and metrics. Project : Autoencoder</a:t>
          </a:r>
          <a:endParaRPr lang="en-US" dirty="0"/>
        </a:p>
      </dgm:t>
    </dgm:pt>
    <dgm:pt modelId="{3E6A42F1-15F3-4EC1-B1C2-968156C02523}" type="parTrans" cxnId="{5E4DE321-9B7A-4F5D-AA58-8A545E5CD50C}">
      <dgm:prSet/>
      <dgm:spPr/>
      <dgm:t>
        <a:bodyPr/>
        <a:lstStyle/>
        <a:p>
          <a:endParaRPr lang="en-US"/>
        </a:p>
      </dgm:t>
    </dgm:pt>
    <dgm:pt modelId="{072FBC2C-65D6-4205-B7E4-32D67F0564A9}" type="sibTrans" cxnId="{5E4DE321-9B7A-4F5D-AA58-8A545E5CD50C}">
      <dgm:prSet/>
      <dgm:spPr/>
      <dgm:t>
        <a:bodyPr/>
        <a:lstStyle/>
        <a:p>
          <a:endParaRPr lang="en-US"/>
        </a:p>
      </dgm:t>
    </dgm:pt>
    <dgm:pt modelId="{0F663684-D70D-4374-8282-49D8AFCDF7CB}">
      <dgm:prSet/>
      <dgm:spPr/>
      <dgm:t>
        <a:bodyPr/>
        <a:lstStyle/>
        <a:p>
          <a:r>
            <a:rPr lang="en-US" b="1" i="0" baseline="0" dirty="0"/>
            <a:t>Logged Hyperparameters [For Autoencoder] </a:t>
          </a:r>
          <a:endParaRPr lang="en-US" dirty="0"/>
        </a:p>
      </dgm:t>
    </dgm:pt>
    <dgm:pt modelId="{CEF0A598-4339-4755-A674-41DB374804F1}" type="parTrans" cxnId="{6A6D8078-3BE2-44DB-8873-FEC7CE923051}">
      <dgm:prSet/>
      <dgm:spPr/>
      <dgm:t>
        <a:bodyPr/>
        <a:lstStyle/>
        <a:p>
          <a:endParaRPr lang="en-US"/>
        </a:p>
      </dgm:t>
    </dgm:pt>
    <dgm:pt modelId="{13876A35-2CFD-47DF-A518-32AF21168B25}" type="sibTrans" cxnId="{6A6D8078-3BE2-44DB-8873-FEC7CE923051}">
      <dgm:prSet/>
      <dgm:spPr/>
      <dgm:t>
        <a:bodyPr/>
        <a:lstStyle/>
        <a:p>
          <a:endParaRPr lang="en-US"/>
        </a:p>
      </dgm:t>
    </dgm:pt>
    <dgm:pt modelId="{8162E93C-7A12-444F-BF04-18C9A1604134}">
      <dgm:prSet/>
      <dgm:spPr/>
      <dgm:t>
        <a:bodyPr/>
        <a:lstStyle/>
        <a:p>
          <a:r>
            <a:rPr lang="en-US" dirty="0"/>
            <a:t>Input Size: 30 [Number of features]</a:t>
          </a:r>
        </a:p>
      </dgm:t>
    </dgm:pt>
    <dgm:pt modelId="{15CF7C23-8809-4901-9FBD-CDF2FABFE075}" type="sibTrans" cxnId="{BB5AE4B8-8119-42EC-A0DB-CB7940D74AC0}">
      <dgm:prSet/>
      <dgm:spPr/>
      <dgm:t>
        <a:bodyPr/>
        <a:lstStyle/>
        <a:p>
          <a:endParaRPr lang="en-US"/>
        </a:p>
      </dgm:t>
    </dgm:pt>
    <dgm:pt modelId="{A323014C-C05D-4998-BD37-86E4FCC4A03C}" type="parTrans" cxnId="{BB5AE4B8-8119-42EC-A0DB-CB7940D74AC0}">
      <dgm:prSet/>
      <dgm:spPr/>
      <dgm:t>
        <a:bodyPr/>
        <a:lstStyle/>
        <a:p>
          <a:endParaRPr lang="en-US"/>
        </a:p>
      </dgm:t>
    </dgm:pt>
    <dgm:pt modelId="{F6304941-F6CA-4C6F-A98B-61AB63DA2E35}">
      <dgm:prSet/>
      <dgm:spPr/>
      <dgm:t>
        <a:bodyPr/>
        <a:lstStyle/>
        <a:p>
          <a:r>
            <a:rPr lang="en-US" dirty="0"/>
            <a:t>Epochs: 20 (initial training) +  10 (Hyperparameter-tuning)</a:t>
          </a:r>
        </a:p>
      </dgm:t>
    </dgm:pt>
    <dgm:pt modelId="{DF2C0B27-73C1-4157-B372-172AF124441E}" type="parTrans" cxnId="{8879B705-AD7E-48CC-9532-3143C700325E}">
      <dgm:prSet/>
      <dgm:spPr/>
      <dgm:t>
        <a:bodyPr/>
        <a:lstStyle/>
        <a:p>
          <a:endParaRPr lang="en-US"/>
        </a:p>
      </dgm:t>
    </dgm:pt>
    <dgm:pt modelId="{E7E07B5C-57D7-4784-AD9F-D9D7E9E553BC}" type="sibTrans" cxnId="{8879B705-AD7E-48CC-9532-3143C700325E}">
      <dgm:prSet/>
      <dgm:spPr/>
      <dgm:t>
        <a:bodyPr/>
        <a:lstStyle/>
        <a:p>
          <a:endParaRPr lang="en-US"/>
        </a:p>
      </dgm:t>
    </dgm:pt>
    <dgm:pt modelId="{475F3CF1-CF6D-4A7B-BDE8-D3241CD9D58D}">
      <dgm:prSet/>
      <dgm:spPr/>
      <dgm:t>
        <a:bodyPr/>
        <a:lstStyle/>
        <a:p>
          <a:r>
            <a:rPr lang="en-US" dirty="0"/>
            <a:t>Loss Function: Mean Squared Error for simple Autoencoder and combination of Reconstruction error and KL divergence for VAE</a:t>
          </a:r>
        </a:p>
      </dgm:t>
    </dgm:pt>
    <dgm:pt modelId="{769650AB-5AFC-4A6A-BA31-CC33D37AA7F3}" type="parTrans" cxnId="{3AEC2872-20CD-4E37-A364-EBA548CFF9A0}">
      <dgm:prSet/>
      <dgm:spPr/>
      <dgm:t>
        <a:bodyPr/>
        <a:lstStyle/>
        <a:p>
          <a:endParaRPr lang="en-US"/>
        </a:p>
      </dgm:t>
    </dgm:pt>
    <dgm:pt modelId="{B838FC8B-11F0-4502-BDA6-3E8064638A16}" type="sibTrans" cxnId="{3AEC2872-20CD-4E37-A364-EBA548CFF9A0}">
      <dgm:prSet/>
      <dgm:spPr/>
      <dgm:t>
        <a:bodyPr/>
        <a:lstStyle/>
        <a:p>
          <a:endParaRPr lang="en-US"/>
        </a:p>
      </dgm:t>
    </dgm:pt>
    <dgm:pt modelId="{03B6BB1C-0A6E-4CA2-A85C-22B0E9E3301A}">
      <dgm:prSet/>
      <dgm:spPr/>
      <dgm:t>
        <a:bodyPr/>
        <a:lstStyle/>
        <a:p>
          <a:r>
            <a:rPr lang="en-US" dirty="0"/>
            <a:t> Optimizer: Adam.</a:t>
          </a:r>
        </a:p>
      </dgm:t>
    </dgm:pt>
    <dgm:pt modelId="{0D4AB56A-97A3-4078-AE7E-7D8BD7DB729B}" type="parTrans" cxnId="{C739E155-D733-4F0D-BDD6-CF85B590EE10}">
      <dgm:prSet/>
      <dgm:spPr/>
      <dgm:t>
        <a:bodyPr/>
        <a:lstStyle/>
        <a:p>
          <a:endParaRPr lang="en-US"/>
        </a:p>
      </dgm:t>
    </dgm:pt>
    <dgm:pt modelId="{6AE6C801-9080-445C-8267-898F3C7DC476}" type="sibTrans" cxnId="{C739E155-D733-4F0D-BDD6-CF85B590EE10}">
      <dgm:prSet/>
      <dgm:spPr/>
      <dgm:t>
        <a:bodyPr/>
        <a:lstStyle/>
        <a:p>
          <a:endParaRPr lang="en-US"/>
        </a:p>
      </dgm:t>
    </dgm:pt>
    <dgm:pt modelId="{B393009E-4164-4C43-A9C5-6F8DACC3E20D}">
      <dgm:prSet/>
      <dgm:spPr/>
      <dgm:t>
        <a:bodyPr/>
        <a:lstStyle/>
        <a:p>
          <a:r>
            <a:rPr lang="en-US" dirty="0"/>
            <a:t>Learning Rate: 0.001 (initial), 0.0001,0.0005  (Hyperparameter tuning)</a:t>
          </a:r>
        </a:p>
      </dgm:t>
    </dgm:pt>
    <dgm:pt modelId="{7CD1E159-7E40-4C1B-A32C-5883BB35F4F2}" type="parTrans" cxnId="{DE49DDF5-6316-418B-8EAE-135D440C700C}">
      <dgm:prSet/>
      <dgm:spPr/>
      <dgm:t>
        <a:bodyPr/>
        <a:lstStyle/>
        <a:p>
          <a:endParaRPr lang="en-US"/>
        </a:p>
      </dgm:t>
    </dgm:pt>
    <dgm:pt modelId="{8069C66A-4EF1-4A5D-984E-8BBFAF176B1F}" type="sibTrans" cxnId="{DE49DDF5-6316-418B-8EAE-135D440C700C}">
      <dgm:prSet/>
      <dgm:spPr/>
      <dgm:t>
        <a:bodyPr/>
        <a:lstStyle/>
        <a:p>
          <a:endParaRPr lang="en-US"/>
        </a:p>
      </dgm:t>
    </dgm:pt>
    <dgm:pt modelId="{0845B3EB-2856-4D65-8A95-84BFA052D3F6}">
      <dgm:prSet/>
      <dgm:spPr/>
      <dgm:t>
        <a:bodyPr/>
        <a:lstStyle/>
        <a:p>
          <a:pPr>
            <a:buNone/>
          </a:pPr>
          <a:r>
            <a:rPr lang="en-US" b="1" dirty="0"/>
            <a:t>Models Used: Simple Autoencoder and Variational Autoencoder with hyper-parameter tuning </a:t>
          </a:r>
          <a:endParaRPr lang="en-US" dirty="0"/>
        </a:p>
      </dgm:t>
    </dgm:pt>
    <dgm:pt modelId="{D7FAFD0F-9BFD-4BB7-8367-8F9263DC5C97}" type="sibTrans" cxnId="{C50416F7-D4FD-4F2E-A076-D6060F2BF801}">
      <dgm:prSet/>
      <dgm:spPr/>
      <dgm:t>
        <a:bodyPr/>
        <a:lstStyle/>
        <a:p>
          <a:endParaRPr lang="en-US"/>
        </a:p>
      </dgm:t>
    </dgm:pt>
    <dgm:pt modelId="{F66FCD61-112B-4B15-BC3B-3A8291E7A485}" type="parTrans" cxnId="{C50416F7-D4FD-4F2E-A076-D6060F2BF801}">
      <dgm:prSet/>
      <dgm:spPr/>
      <dgm:t>
        <a:bodyPr/>
        <a:lstStyle/>
        <a:p>
          <a:endParaRPr lang="en-US"/>
        </a:p>
      </dgm:t>
    </dgm:pt>
    <dgm:pt modelId="{7168E37C-DFC6-46EC-B0A8-6D88801BD6A6}">
      <dgm:prSet/>
      <dgm:spPr/>
      <dgm:t>
        <a:bodyPr/>
        <a:lstStyle/>
        <a:p>
          <a:r>
            <a:rPr lang="en-US" dirty="0"/>
            <a:t>Output Size: 1</a:t>
          </a:r>
        </a:p>
      </dgm:t>
    </dgm:pt>
    <dgm:pt modelId="{F6936672-23D7-4E0A-9E78-F943FEBFB17B}" type="parTrans" cxnId="{175E0E69-FF9D-4D98-AD7E-B73075D00BC0}">
      <dgm:prSet/>
      <dgm:spPr/>
      <dgm:t>
        <a:bodyPr/>
        <a:lstStyle/>
        <a:p>
          <a:endParaRPr lang="en-US"/>
        </a:p>
      </dgm:t>
    </dgm:pt>
    <dgm:pt modelId="{9ACB036A-6EF5-4A3A-9F4D-049F3804349C}" type="sibTrans" cxnId="{175E0E69-FF9D-4D98-AD7E-B73075D00BC0}">
      <dgm:prSet/>
      <dgm:spPr/>
      <dgm:t>
        <a:bodyPr/>
        <a:lstStyle/>
        <a:p>
          <a:endParaRPr lang="en-US"/>
        </a:p>
      </dgm:t>
    </dgm:pt>
    <dgm:pt modelId="{CE5AE3D8-01A7-4C3C-825A-5D0E52DD3DB6}">
      <dgm:prSet/>
      <dgm:spPr/>
      <dgm:t>
        <a:bodyPr/>
        <a:lstStyle/>
        <a:p>
          <a:r>
            <a:rPr lang="en-US" dirty="0" err="1"/>
            <a:t>BatchSize</a:t>
          </a:r>
          <a:r>
            <a:rPr lang="en-US" dirty="0"/>
            <a:t> : 32 (initial), 64,128 (Hyperparameter Tuning)</a:t>
          </a:r>
        </a:p>
      </dgm:t>
    </dgm:pt>
    <dgm:pt modelId="{589C7C2E-A6CA-46F9-98C0-4CB82C20B19A}" type="parTrans" cxnId="{4B6FFE33-39BA-41F1-B397-3AB2CD2568CC}">
      <dgm:prSet/>
      <dgm:spPr/>
      <dgm:t>
        <a:bodyPr/>
        <a:lstStyle/>
        <a:p>
          <a:endParaRPr lang="en-US"/>
        </a:p>
      </dgm:t>
    </dgm:pt>
    <dgm:pt modelId="{D80B1745-753D-4CC4-A76A-FA41D214C9B1}" type="sibTrans" cxnId="{4B6FFE33-39BA-41F1-B397-3AB2CD2568CC}">
      <dgm:prSet/>
      <dgm:spPr/>
      <dgm:t>
        <a:bodyPr/>
        <a:lstStyle/>
        <a:p>
          <a:endParaRPr lang="en-US"/>
        </a:p>
      </dgm:t>
    </dgm:pt>
    <dgm:pt modelId="{BD91D0B9-1786-4A83-8927-D9FAAD4C5785}" type="pres">
      <dgm:prSet presAssocID="{C83236CC-1FC8-49EE-9D16-AACA210C4E2A}" presName="linear" presStyleCnt="0">
        <dgm:presLayoutVars>
          <dgm:animLvl val="lvl"/>
          <dgm:resizeHandles val="exact"/>
        </dgm:presLayoutVars>
      </dgm:prSet>
      <dgm:spPr/>
    </dgm:pt>
    <dgm:pt modelId="{703C5930-F633-4D43-8972-9F523F9E3320}" type="pres">
      <dgm:prSet presAssocID="{34ED9E45-6918-4396-913B-CFC76A992D71}" presName="parentText" presStyleLbl="node1" presStyleIdx="0" presStyleCnt="3">
        <dgm:presLayoutVars>
          <dgm:chMax val="0"/>
          <dgm:bulletEnabled val="1"/>
        </dgm:presLayoutVars>
      </dgm:prSet>
      <dgm:spPr/>
    </dgm:pt>
    <dgm:pt modelId="{AD764C18-74E2-47A2-8AD4-843FA8545700}" type="pres">
      <dgm:prSet presAssocID="{072FBC2C-65D6-4205-B7E4-32D67F0564A9}" presName="spacer" presStyleCnt="0"/>
      <dgm:spPr/>
    </dgm:pt>
    <dgm:pt modelId="{2BE220F1-B6F2-470C-97BA-2C1EEBA8DB82}" type="pres">
      <dgm:prSet presAssocID="{0845B3EB-2856-4D65-8A95-84BFA052D3F6}" presName="parentText" presStyleLbl="node1" presStyleIdx="1" presStyleCnt="3">
        <dgm:presLayoutVars>
          <dgm:chMax val="0"/>
          <dgm:bulletEnabled val="1"/>
        </dgm:presLayoutVars>
      </dgm:prSet>
      <dgm:spPr/>
    </dgm:pt>
    <dgm:pt modelId="{056EDA31-00C2-42D3-BEBA-91DEC1AD11C0}" type="pres">
      <dgm:prSet presAssocID="{D7FAFD0F-9BFD-4BB7-8367-8F9263DC5C97}" presName="spacer" presStyleCnt="0"/>
      <dgm:spPr/>
    </dgm:pt>
    <dgm:pt modelId="{D787F2ED-3D6A-40A3-81FF-A49AF979F937}" type="pres">
      <dgm:prSet presAssocID="{0F663684-D70D-4374-8282-49D8AFCDF7CB}" presName="parentText" presStyleLbl="node1" presStyleIdx="2" presStyleCnt="3">
        <dgm:presLayoutVars>
          <dgm:chMax val="0"/>
          <dgm:bulletEnabled val="1"/>
        </dgm:presLayoutVars>
      </dgm:prSet>
      <dgm:spPr/>
    </dgm:pt>
    <dgm:pt modelId="{FB8B7F32-CA0C-4B13-AE63-6130975D9317}" type="pres">
      <dgm:prSet presAssocID="{0F663684-D70D-4374-8282-49D8AFCDF7CB}" presName="childText" presStyleLbl="revTx" presStyleIdx="0" presStyleCnt="1">
        <dgm:presLayoutVars>
          <dgm:bulletEnabled val="1"/>
        </dgm:presLayoutVars>
      </dgm:prSet>
      <dgm:spPr/>
    </dgm:pt>
  </dgm:ptLst>
  <dgm:cxnLst>
    <dgm:cxn modelId="{0F7F5B05-0F40-4D07-B00A-EE129C47E718}" type="presOf" srcId="{B393009E-4164-4C43-A9C5-6F8DACC3E20D}" destId="{FB8B7F32-CA0C-4B13-AE63-6130975D9317}" srcOrd="0" destOrd="5" presId="urn:microsoft.com/office/officeart/2005/8/layout/vList2"/>
    <dgm:cxn modelId="{8879B705-AD7E-48CC-9532-3143C700325E}" srcId="{0F663684-D70D-4374-8282-49D8AFCDF7CB}" destId="{F6304941-F6CA-4C6F-A98B-61AB63DA2E35}" srcOrd="2" destOrd="0" parTransId="{DF2C0B27-73C1-4157-B372-172AF124441E}" sibTransId="{E7E07B5C-57D7-4784-AD9F-D9D7E9E553BC}"/>
    <dgm:cxn modelId="{9185DF0A-17FC-43CC-B660-60250B1C1E9C}" type="presOf" srcId="{C83236CC-1FC8-49EE-9D16-AACA210C4E2A}" destId="{BD91D0B9-1786-4A83-8927-D9FAAD4C5785}" srcOrd="0" destOrd="0" presId="urn:microsoft.com/office/officeart/2005/8/layout/vList2"/>
    <dgm:cxn modelId="{77F0C415-6D33-45D5-A661-F4C1031ED39B}" type="presOf" srcId="{03B6BB1C-0A6E-4CA2-A85C-22B0E9E3301A}" destId="{FB8B7F32-CA0C-4B13-AE63-6130975D9317}" srcOrd="0" destOrd="4" presId="urn:microsoft.com/office/officeart/2005/8/layout/vList2"/>
    <dgm:cxn modelId="{DF3C5F1C-06EF-4CB7-924E-C2E924695B37}" type="presOf" srcId="{7168E37C-DFC6-46EC-B0A8-6D88801BD6A6}" destId="{FB8B7F32-CA0C-4B13-AE63-6130975D9317}" srcOrd="0" destOrd="1" presId="urn:microsoft.com/office/officeart/2005/8/layout/vList2"/>
    <dgm:cxn modelId="{5E4DE321-9B7A-4F5D-AA58-8A545E5CD50C}" srcId="{C83236CC-1FC8-49EE-9D16-AACA210C4E2A}" destId="{34ED9E45-6918-4396-913B-CFC76A992D71}" srcOrd="0" destOrd="0" parTransId="{3E6A42F1-15F3-4EC1-B1C2-968156C02523}" sibTransId="{072FBC2C-65D6-4205-B7E4-32D67F0564A9}"/>
    <dgm:cxn modelId="{4B6FFE33-39BA-41F1-B397-3AB2CD2568CC}" srcId="{0F663684-D70D-4374-8282-49D8AFCDF7CB}" destId="{CE5AE3D8-01A7-4C3C-825A-5D0E52DD3DB6}" srcOrd="6" destOrd="0" parTransId="{589C7C2E-A6CA-46F9-98C0-4CB82C20B19A}" sibTransId="{D80B1745-753D-4CC4-A76A-FA41D214C9B1}"/>
    <dgm:cxn modelId="{3691263B-5F94-401F-91A3-91B42109CFE4}" type="presOf" srcId="{CE5AE3D8-01A7-4C3C-825A-5D0E52DD3DB6}" destId="{FB8B7F32-CA0C-4B13-AE63-6130975D9317}" srcOrd="0" destOrd="6" presId="urn:microsoft.com/office/officeart/2005/8/layout/vList2"/>
    <dgm:cxn modelId="{B6B3965E-7FCC-4EAE-A8B7-F131A8D7CB01}" type="presOf" srcId="{34ED9E45-6918-4396-913B-CFC76A992D71}" destId="{703C5930-F633-4D43-8972-9F523F9E3320}" srcOrd="0" destOrd="0" presId="urn:microsoft.com/office/officeart/2005/8/layout/vList2"/>
    <dgm:cxn modelId="{175E0E69-FF9D-4D98-AD7E-B73075D00BC0}" srcId="{0F663684-D70D-4374-8282-49D8AFCDF7CB}" destId="{7168E37C-DFC6-46EC-B0A8-6D88801BD6A6}" srcOrd="1" destOrd="0" parTransId="{F6936672-23D7-4E0A-9E78-F943FEBFB17B}" sibTransId="{9ACB036A-6EF5-4A3A-9F4D-049F3804349C}"/>
    <dgm:cxn modelId="{3AEC2872-20CD-4E37-A364-EBA548CFF9A0}" srcId="{0F663684-D70D-4374-8282-49D8AFCDF7CB}" destId="{475F3CF1-CF6D-4A7B-BDE8-D3241CD9D58D}" srcOrd="3" destOrd="0" parTransId="{769650AB-5AFC-4A6A-BA31-CC33D37AA7F3}" sibTransId="{B838FC8B-11F0-4502-BDA6-3E8064638A16}"/>
    <dgm:cxn modelId="{E0343355-4ACF-4AE1-9182-0C165CE1F1DF}" type="presOf" srcId="{8162E93C-7A12-444F-BF04-18C9A1604134}" destId="{FB8B7F32-CA0C-4B13-AE63-6130975D9317}" srcOrd="0" destOrd="0" presId="urn:microsoft.com/office/officeart/2005/8/layout/vList2"/>
    <dgm:cxn modelId="{C739E155-D733-4F0D-BDD6-CF85B590EE10}" srcId="{0F663684-D70D-4374-8282-49D8AFCDF7CB}" destId="{03B6BB1C-0A6E-4CA2-A85C-22B0E9E3301A}" srcOrd="4" destOrd="0" parTransId="{0D4AB56A-97A3-4078-AE7E-7D8BD7DB729B}" sibTransId="{6AE6C801-9080-445C-8267-898F3C7DC476}"/>
    <dgm:cxn modelId="{6A6D8078-3BE2-44DB-8873-FEC7CE923051}" srcId="{C83236CC-1FC8-49EE-9D16-AACA210C4E2A}" destId="{0F663684-D70D-4374-8282-49D8AFCDF7CB}" srcOrd="2" destOrd="0" parTransId="{CEF0A598-4339-4755-A674-41DB374804F1}" sibTransId="{13876A35-2CFD-47DF-A518-32AF21168B25}"/>
    <dgm:cxn modelId="{71D68E7B-AF4B-43C5-AE66-253B1FAC7214}" type="presOf" srcId="{0845B3EB-2856-4D65-8A95-84BFA052D3F6}" destId="{2BE220F1-B6F2-470C-97BA-2C1EEBA8DB82}" srcOrd="0" destOrd="0" presId="urn:microsoft.com/office/officeart/2005/8/layout/vList2"/>
    <dgm:cxn modelId="{C42F44B1-8B1A-4984-9E55-0EFF5C239D92}" type="presOf" srcId="{F6304941-F6CA-4C6F-A98B-61AB63DA2E35}" destId="{FB8B7F32-CA0C-4B13-AE63-6130975D9317}" srcOrd="0" destOrd="2" presId="urn:microsoft.com/office/officeart/2005/8/layout/vList2"/>
    <dgm:cxn modelId="{BB5AE4B8-8119-42EC-A0DB-CB7940D74AC0}" srcId="{0F663684-D70D-4374-8282-49D8AFCDF7CB}" destId="{8162E93C-7A12-444F-BF04-18C9A1604134}" srcOrd="0" destOrd="0" parTransId="{A323014C-C05D-4998-BD37-86E4FCC4A03C}" sibTransId="{15CF7C23-8809-4901-9FBD-CDF2FABFE075}"/>
    <dgm:cxn modelId="{8E06B3EB-1962-484A-B07E-92E5120A9137}" type="presOf" srcId="{0F663684-D70D-4374-8282-49D8AFCDF7CB}" destId="{D787F2ED-3D6A-40A3-81FF-A49AF979F937}" srcOrd="0" destOrd="0" presId="urn:microsoft.com/office/officeart/2005/8/layout/vList2"/>
    <dgm:cxn modelId="{DE49DDF5-6316-418B-8EAE-135D440C700C}" srcId="{0F663684-D70D-4374-8282-49D8AFCDF7CB}" destId="{B393009E-4164-4C43-A9C5-6F8DACC3E20D}" srcOrd="5" destOrd="0" parTransId="{7CD1E159-7E40-4C1B-A32C-5883BB35F4F2}" sibTransId="{8069C66A-4EF1-4A5D-984E-8BBFAF176B1F}"/>
    <dgm:cxn modelId="{C50416F7-D4FD-4F2E-A076-D6060F2BF801}" srcId="{C83236CC-1FC8-49EE-9D16-AACA210C4E2A}" destId="{0845B3EB-2856-4D65-8A95-84BFA052D3F6}" srcOrd="1" destOrd="0" parTransId="{F66FCD61-112B-4B15-BC3B-3A8291E7A485}" sibTransId="{D7FAFD0F-9BFD-4BB7-8367-8F9263DC5C97}"/>
    <dgm:cxn modelId="{0DD525FA-1835-4A7D-B08A-AFCB3B771CCA}" type="presOf" srcId="{475F3CF1-CF6D-4A7B-BDE8-D3241CD9D58D}" destId="{FB8B7F32-CA0C-4B13-AE63-6130975D9317}" srcOrd="0" destOrd="3" presId="urn:microsoft.com/office/officeart/2005/8/layout/vList2"/>
    <dgm:cxn modelId="{FD6D002A-B7A1-4EFE-8A68-7AD03D7D2BD8}" type="presParOf" srcId="{BD91D0B9-1786-4A83-8927-D9FAAD4C5785}" destId="{703C5930-F633-4D43-8972-9F523F9E3320}" srcOrd="0" destOrd="0" presId="urn:microsoft.com/office/officeart/2005/8/layout/vList2"/>
    <dgm:cxn modelId="{9357BBD8-6A3C-4652-951E-82F35DAE3E8C}" type="presParOf" srcId="{BD91D0B9-1786-4A83-8927-D9FAAD4C5785}" destId="{AD764C18-74E2-47A2-8AD4-843FA8545700}" srcOrd="1" destOrd="0" presId="urn:microsoft.com/office/officeart/2005/8/layout/vList2"/>
    <dgm:cxn modelId="{CC0D2361-07C2-4BDA-8968-E9CCC9BE001B}" type="presParOf" srcId="{BD91D0B9-1786-4A83-8927-D9FAAD4C5785}" destId="{2BE220F1-B6F2-470C-97BA-2C1EEBA8DB82}" srcOrd="2" destOrd="0" presId="urn:microsoft.com/office/officeart/2005/8/layout/vList2"/>
    <dgm:cxn modelId="{81695905-3FF3-4D62-A1DB-E6C10B0C845F}" type="presParOf" srcId="{BD91D0B9-1786-4A83-8927-D9FAAD4C5785}" destId="{056EDA31-00C2-42D3-BEBA-91DEC1AD11C0}" srcOrd="3" destOrd="0" presId="urn:microsoft.com/office/officeart/2005/8/layout/vList2"/>
    <dgm:cxn modelId="{2EC4646C-72E0-40A8-B6E3-767C6B638BD0}" type="presParOf" srcId="{BD91D0B9-1786-4A83-8927-D9FAAD4C5785}" destId="{D787F2ED-3D6A-40A3-81FF-A49AF979F937}" srcOrd="4" destOrd="0" presId="urn:microsoft.com/office/officeart/2005/8/layout/vList2"/>
    <dgm:cxn modelId="{2EC1EEE0-713B-4202-954C-56746FC5878A}" type="presParOf" srcId="{BD91D0B9-1786-4A83-8927-D9FAAD4C5785}" destId="{FB8B7F32-CA0C-4B13-AE63-6130975D9317}" srcOrd="5"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654DDF-418B-4388-BA04-A5B47949EDCC}" type="doc">
      <dgm:prSet loTypeId="urn:microsoft.com/office/officeart/2016/7/layout/RepeatingBendingProcessNew" loCatId="process" qsTypeId="urn:microsoft.com/office/officeart/2005/8/quickstyle/simple2" qsCatId="simple" csTypeId="urn:microsoft.com/office/officeart/2005/8/colors/accent1_2" csCatId="accent1"/>
      <dgm:spPr/>
      <dgm:t>
        <a:bodyPr/>
        <a:lstStyle/>
        <a:p>
          <a:endParaRPr lang="en-US"/>
        </a:p>
      </dgm:t>
    </dgm:pt>
    <dgm:pt modelId="{D4EAC359-9B91-4D42-A710-133E68C7E041}">
      <dgm:prSet/>
      <dgm:spPr/>
      <dgm:t>
        <a:bodyPr/>
        <a:lstStyle/>
        <a:p>
          <a:r>
            <a:rPr lang="en-US" b="1"/>
            <a:t>Class Imbalance</a:t>
          </a:r>
          <a:endParaRPr lang="en-US"/>
        </a:p>
      </dgm:t>
    </dgm:pt>
    <dgm:pt modelId="{A8E50587-97C9-4957-AD21-1CEADF3C26F9}" type="parTrans" cxnId="{E87DC669-31B1-4100-94B3-FBEB81390A5C}">
      <dgm:prSet/>
      <dgm:spPr/>
      <dgm:t>
        <a:bodyPr/>
        <a:lstStyle/>
        <a:p>
          <a:endParaRPr lang="en-US"/>
        </a:p>
      </dgm:t>
    </dgm:pt>
    <dgm:pt modelId="{1A4F5277-A655-4DFE-A033-7888019D6F92}" type="sibTrans" cxnId="{E87DC669-31B1-4100-94B3-FBEB81390A5C}">
      <dgm:prSet/>
      <dgm:spPr/>
      <dgm:t>
        <a:bodyPr/>
        <a:lstStyle/>
        <a:p>
          <a:endParaRPr lang="en-US"/>
        </a:p>
      </dgm:t>
    </dgm:pt>
    <dgm:pt modelId="{A0C9143D-A693-4263-AAE9-DE6E6442C184}">
      <dgm:prSet/>
      <dgm:spPr/>
      <dgm:t>
        <a:bodyPr/>
        <a:lstStyle/>
        <a:p>
          <a:r>
            <a:rPr lang="en-US" b="1"/>
            <a:t>Challenge</a:t>
          </a:r>
          <a:r>
            <a:rPr lang="en-US"/>
            <a:t>: Fraudulent transactions make up a </a:t>
          </a:r>
          <a:r>
            <a:rPr lang="en-US" b="1"/>
            <a:t>very small percentage</a:t>
          </a:r>
          <a:r>
            <a:rPr lang="en-US"/>
            <a:t> of the dataset, which leads to imbalanced model performance and poor generalization.</a:t>
          </a:r>
        </a:p>
      </dgm:t>
    </dgm:pt>
    <dgm:pt modelId="{4A32A6D5-EB68-43BB-BCAD-6CB8236591F1}" type="parTrans" cxnId="{64C18848-C5EC-450A-B040-7BA661FA9914}">
      <dgm:prSet/>
      <dgm:spPr/>
      <dgm:t>
        <a:bodyPr/>
        <a:lstStyle/>
        <a:p>
          <a:endParaRPr lang="en-US"/>
        </a:p>
      </dgm:t>
    </dgm:pt>
    <dgm:pt modelId="{B519D910-CE78-4E93-8C97-D8AD04B4604A}" type="sibTrans" cxnId="{64C18848-C5EC-450A-B040-7BA661FA9914}">
      <dgm:prSet/>
      <dgm:spPr/>
      <dgm:t>
        <a:bodyPr/>
        <a:lstStyle/>
        <a:p>
          <a:endParaRPr lang="en-US"/>
        </a:p>
      </dgm:t>
    </dgm:pt>
    <dgm:pt modelId="{FAACF962-2AAB-4144-A27D-F8FD137F505C}">
      <dgm:prSet/>
      <dgm:spPr/>
      <dgm:t>
        <a:bodyPr/>
        <a:lstStyle/>
        <a:p>
          <a:r>
            <a:rPr lang="en-US" b="1"/>
            <a:t>Mitigation</a:t>
          </a:r>
          <a:r>
            <a:rPr lang="en-US"/>
            <a:t>: We used </a:t>
          </a:r>
          <a:r>
            <a:rPr lang="en-US" b="1"/>
            <a:t>weighted precision</a:t>
          </a:r>
          <a:r>
            <a:rPr lang="en-US"/>
            <a:t> to balance the performance for both classes.</a:t>
          </a:r>
        </a:p>
      </dgm:t>
    </dgm:pt>
    <dgm:pt modelId="{967F7001-FD0E-496B-A03B-6D6DD97D0942}" type="parTrans" cxnId="{55739E06-F4F5-46E4-8E0E-84C12062366D}">
      <dgm:prSet/>
      <dgm:spPr/>
      <dgm:t>
        <a:bodyPr/>
        <a:lstStyle/>
        <a:p>
          <a:endParaRPr lang="en-US"/>
        </a:p>
      </dgm:t>
    </dgm:pt>
    <dgm:pt modelId="{3E0BEAEA-7441-481B-8F15-73EBF3572C97}" type="sibTrans" cxnId="{55739E06-F4F5-46E4-8E0E-84C12062366D}">
      <dgm:prSet/>
      <dgm:spPr/>
      <dgm:t>
        <a:bodyPr/>
        <a:lstStyle/>
        <a:p>
          <a:endParaRPr lang="en-US"/>
        </a:p>
      </dgm:t>
    </dgm:pt>
    <dgm:pt modelId="{3B8E432B-41AC-4898-92A1-D5CFD693C0A9}">
      <dgm:prSet/>
      <dgm:spPr/>
      <dgm:t>
        <a:bodyPr/>
        <a:lstStyle/>
        <a:p>
          <a:r>
            <a:rPr lang="en-US" b="1"/>
            <a:t>Resampling techniques</a:t>
          </a:r>
          <a:r>
            <a:rPr lang="en-US"/>
            <a:t> like </a:t>
          </a:r>
          <a:r>
            <a:rPr lang="en-US" b="1"/>
            <a:t>oversampling</a:t>
          </a:r>
          <a:r>
            <a:rPr lang="en-US"/>
            <a:t> the minority class or </a:t>
          </a:r>
          <a:r>
            <a:rPr lang="en-US" b="1"/>
            <a:t>undersampling</a:t>
          </a:r>
          <a:r>
            <a:rPr lang="en-US"/>
            <a:t> the majority class could be explored in future iterations to further address the imbalance</a:t>
          </a:r>
        </a:p>
      </dgm:t>
    </dgm:pt>
    <dgm:pt modelId="{38F2E14F-C570-4444-B98D-FE39B38D600E}" type="parTrans" cxnId="{B4749D95-AEFD-4451-9E74-1D93813B34D3}">
      <dgm:prSet/>
      <dgm:spPr/>
      <dgm:t>
        <a:bodyPr/>
        <a:lstStyle/>
        <a:p>
          <a:endParaRPr lang="en-US"/>
        </a:p>
      </dgm:t>
    </dgm:pt>
    <dgm:pt modelId="{CD84B75B-6E28-4205-8638-1B786F9D142A}" type="sibTrans" cxnId="{B4749D95-AEFD-4451-9E74-1D93813B34D3}">
      <dgm:prSet/>
      <dgm:spPr/>
      <dgm:t>
        <a:bodyPr/>
        <a:lstStyle/>
        <a:p>
          <a:endParaRPr lang="en-US"/>
        </a:p>
      </dgm:t>
    </dgm:pt>
    <dgm:pt modelId="{E47BD1CE-7137-421B-B316-92EA19234A45}" type="pres">
      <dgm:prSet presAssocID="{07654DDF-418B-4388-BA04-A5B47949EDCC}" presName="Name0" presStyleCnt="0">
        <dgm:presLayoutVars>
          <dgm:dir/>
          <dgm:resizeHandles val="exact"/>
        </dgm:presLayoutVars>
      </dgm:prSet>
      <dgm:spPr/>
    </dgm:pt>
    <dgm:pt modelId="{23935967-2EFC-4216-A0E6-05B5E9F483E4}" type="pres">
      <dgm:prSet presAssocID="{D4EAC359-9B91-4D42-A710-133E68C7E041}" presName="node" presStyleLbl="node1" presStyleIdx="0" presStyleCnt="4">
        <dgm:presLayoutVars>
          <dgm:bulletEnabled val="1"/>
        </dgm:presLayoutVars>
      </dgm:prSet>
      <dgm:spPr/>
    </dgm:pt>
    <dgm:pt modelId="{2FD612A0-A664-4DBF-AE48-2EF3A9D2E35D}" type="pres">
      <dgm:prSet presAssocID="{1A4F5277-A655-4DFE-A033-7888019D6F92}" presName="sibTrans" presStyleLbl="sibTrans1D1" presStyleIdx="0" presStyleCnt="3"/>
      <dgm:spPr/>
    </dgm:pt>
    <dgm:pt modelId="{993938C4-BA6C-458D-B078-33A6B6A0F662}" type="pres">
      <dgm:prSet presAssocID="{1A4F5277-A655-4DFE-A033-7888019D6F92}" presName="connectorText" presStyleLbl="sibTrans1D1" presStyleIdx="0" presStyleCnt="3"/>
      <dgm:spPr/>
    </dgm:pt>
    <dgm:pt modelId="{2F04CEE2-0536-4188-86B2-E5879212E487}" type="pres">
      <dgm:prSet presAssocID="{A0C9143D-A693-4263-AAE9-DE6E6442C184}" presName="node" presStyleLbl="node1" presStyleIdx="1" presStyleCnt="4">
        <dgm:presLayoutVars>
          <dgm:bulletEnabled val="1"/>
        </dgm:presLayoutVars>
      </dgm:prSet>
      <dgm:spPr/>
    </dgm:pt>
    <dgm:pt modelId="{E96A95B8-E5F7-4747-8146-52BB206DE611}" type="pres">
      <dgm:prSet presAssocID="{B519D910-CE78-4E93-8C97-D8AD04B4604A}" presName="sibTrans" presStyleLbl="sibTrans1D1" presStyleIdx="1" presStyleCnt="3"/>
      <dgm:spPr/>
    </dgm:pt>
    <dgm:pt modelId="{97A9DC05-3201-4F1F-BC9C-CF00FBE395CA}" type="pres">
      <dgm:prSet presAssocID="{B519D910-CE78-4E93-8C97-D8AD04B4604A}" presName="connectorText" presStyleLbl="sibTrans1D1" presStyleIdx="1" presStyleCnt="3"/>
      <dgm:spPr/>
    </dgm:pt>
    <dgm:pt modelId="{CC70F0E3-B863-44A4-9A44-52CF07774411}" type="pres">
      <dgm:prSet presAssocID="{FAACF962-2AAB-4144-A27D-F8FD137F505C}" presName="node" presStyleLbl="node1" presStyleIdx="2" presStyleCnt="4">
        <dgm:presLayoutVars>
          <dgm:bulletEnabled val="1"/>
        </dgm:presLayoutVars>
      </dgm:prSet>
      <dgm:spPr/>
    </dgm:pt>
    <dgm:pt modelId="{01DCB968-9956-464E-AD9D-7779E78998D8}" type="pres">
      <dgm:prSet presAssocID="{3E0BEAEA-7441-481B-8F15-73EBF3572C97}" presName="sibTrans" presStyleLbl="sibTrans1D1" presStyleIdx="2" presStyleCnt="3"/>
      <dgm:spPr/>
    </dgm:pt>
    <dgm:pt modelId="{4273F011-A33B-4B69-AE43-58A564E79CE2}" type="pres">
      <dgm:prSet presAssocID="{3E0BEAEA-7441-481B-8F15-73EBF3572C97}" presName="connectorText" presStyleLbl="sibTrans1D1" presStyleIdx="2" presStyleCnt="3"/>
      <dgm:spPr/>
    </dgm:pt>
    <dgm:pt modelId="{9212DC6F-F5B9-41E4-932D-6A22A755BB0D}" type="pres">
      <dgm:prSet presAssocID="{3B8E432B-41AC-4898-92A1-D5CFD693C0A9}" presName="node" presStyleLbl="node1" presStyleIdx="3" presStyleCnt="4">
        <dgm:presLayoutVars>
          <dgm:bulletEnabled val="1"/>
        </dgm:presLayoutVars>
      </dgm:prSet>
      <dgm:spPr/>
    </dgm:pt>
  </dgm:ptLst>
  <dgm:cxnLst>
    <dgm:cxn modelId="{47F62601-65E3-4BCA-963C-E2CB8F7CCB73}" type="presOf" srcId="{A0C9143D-A693-4263-AAE9-DE6E6442C184}" destId="{2F04CEE2-0536-4188-86B2-E5879212E487}" srcOrd="0" destOrd="0" presId="urn:microsoft.com/office/officeart/2016/7/layout/RepeatingBendingProcessNew"/>
    <dgm:cxn modelId="{55739E06-F4F5-46E4-8E0E-84C12062366D}" srcId="{07654DDF-418B-4388-BA04-A5B47949EDCC}" destId="{FAACF962-2AAB-4144-A27D-F8FD137F505C}" srcOrd="2" destOrd="0" parTransId="{967F7001-FD0E-496B-A03B-6D6DD97D0942}" sibTransId="{3E0BEAEA-7441-481B-8F15-73EBF3572C97}"/>
    <dgm:cxn modelId="{0E6A081F-2E82-437F-AA66-B2DECF78FDBE}" type="presOf" srcId="{1A4F5277-A655-4DFE-A033-7888019D6F92}" destId="{993938C4-BA6C-458D-B078-33A6B6A0F662}" srcOrd="1" destOrd="0" presId="urn:microsoft.com/office/officeart/2016/7/layout/RepeatingBendingProcessNew"/>
    <dgm:cxn modelId="{9DBE2E22-D935-4155-B112-E99487D1DE61}" type="presOf" srcId="{B519D910-CE78-4E93-8C97-D8AD04B4604A}" destId="{97A9DC05-3201-4F1F-BC9C-CF00FBE395CA}" srcOrd="1" destOrd="0" presId="urn:microsoft.com/office/officeart/2016/7/layout/RepeatingBendingProcessNew"/>
    <dgm:cxn modelId="{75C9EA29-A176-42F1-91C8-788580D22403}" type="presOf" srcId="{1A4F5277-A655-4DFE-A033-7888019D6F92}" destId="{2FD612A0-A664-4DBF-AE48-2EF3A9D2E35D}" srcOrd="0" destOrd="0" presId="urn:microsoft.com/office/officeart/2016/7/layout/RepeatingBendingProcessNew"/>
    <dgm:cxn modelId="{64C18848-C5EC-450A-B040-7BA661FA9914}" srcId="{07654DDF-418B-4388-BA04-A5B47949EDCC}" destId="{A0C9143D-A693-4263-AAE9-DE6E6442C184}" srcOrd="1" destOrd="0" parTransId="{4A32A6D5-EB68-43BB-BCAD-6CB8236591F1}" sibTransId="{B519D910-CE78-4E93-8C97-D8AD04B4604A}"/>
    <dgm:cxn modelId="{E87DC669-31B1-4100-94B3-FBEB81390A5C}" srcId="{07654DDF-418B-4388-BA04-A5B47949EDCC}" destId="{D4EAC359-9B91-4D42-A710-133E68C7E041}" srcOrd="0" destOrd="0" parTransId="{A8E50587-97C9-4957-AD21-1CEADF3C26F9}" sibTransId="{1A4F5277-A655-4DFE-A033-7888019D6F92}"/>
    <dgm:cxn modelId="{A2A31C56-FEBD-4B20-848E-337DB0FF48E1}" type="presOf" srcId="{3B8E432B-41AC-4898-92A1-D5CFD693C0A9}" destId="{9212DC6F-F5B9-41E4-932D-6A22A755BB0D}" srcOrd="0" destOrd="0" presId="urn:microsoft.com/office/officeart/2016/7/layout/RepeatingBendingProcessNew"/>
    <dgm:cxn modelId="{B4749D95-AEFD-4451-9E74-1D93813B34D3}" srcId="{07654DDF-418B-4388-BA04-A5B47949EDCC}" destId="{3B8E432B-41AC-4898-92A1-D5CFD693C0A9}" srcOrd="3" destOrd="0" parTransId="{38F2E14F-C570-4444-B98D-FE39B38D600E}" sibTransId="{CD84B75B-6E28-4205-8638-1B786F9D142A}"/>
    <dgm:cxn modelId="{0816C896-8B08-4510-BD96-88F4E12DAF17}" type="presOf" srcId="{3E0BEAEA-7441-481B-8F15-73EBF3572C97}" destId="{01DCB968-9956-464E-AD9D-7779E78998D8}" srcOrd="0" destOrd="0" presId="urn:microsoft.com/office/officeart/2016/7/layout/RepeatingBendingProcessNew"/>
    <dgm:cxn modelId="{3B6C2DA9-342A-4887-B80B-A9D4485D04A0}" type="presOf" srcId="{D4EAC359-9B91-4D42-A710-133E68C7E041}" destId="{23935967-2EFC-4216-A0E6-05B5E9F483E4}" srcOrd="0" destOrd="0" presId="urn:microsoft.com/office/officeart/2016/7/layout/RepeatingBendingProcessNew"/>
    <dgm:cxn modelId="{C95071AF-4995-4314-B7BC-A5A73FA81DEF}" type="presOf" srcId="{3E0BEAEA-7441-481B-8F15-73EBF3572C97}" destId="{4273F011-A33B-4B69-AE43-58A564E79CE2}" srcOrd="1" destOrd="0" presId="urn:microsoft.com/office/officeart/2016/7/layout/RepeatingBendingProcessNew"/>
    <dgm:cxn modelId="{D6374EBE-630A-45AD-80A9-AB47056860F9}" type="presOf" srcId="{FAACF962-2AAB-4144-A27D-F8FD137F505C}" destId="{CC70F0E3-B863-44A4-9A44-52CF07774411}" srcOrd="0" destOrd="0" presId="urn:microsoft.com/office/officeart/2016/7/layout/RepeatingBendingProcessNew"/>
    <dgm:cxn modelId="{B172BDDE-69B5-4F8C-99B5-9FCDD1D72E86}" type="presOf" srcId="{B519D910-CE78-4E93-8C97-D8AD04B4604A}" destId="{E96A95B8-E5F7-4747-8146-52BB206DE611}" srcOrd="0" destOrd="0" presId="urn:microsoft.com/office/officeart/2016/7/layout/RepeatingBendingProcessNew"/>
    <dgm:cxn modelId="{8C100FEC-4A33-48AD-8A4E-299F6BAF22E4}" type="presOf" srcId="{07654DDF-418B-4388-BA04-A5B47949EDCC}" destId="{E47BD1CE-7137-421B-B316-92EA19234A45}" srcOrd="0" destOrd="0" presId="urn:microsoft.com/office/officeart/2016/7/layout/RepeatingBendingProcessNew"/>
    <dgm:cxn modelId="{17BA3700-B13B-4D50-B7E0-EA2FEE0D2B56}" type="presParOf" srcId="{E47BD1CE-7137-421B-B316-92EA19234A45}" destId="{23935967-2EFC-4216-A0E6-05B5E9F483E4}" srcOrd="0" destOrd="0" presId="urn:microsoft.com/office/officeart/2016/7/layout/RepeatingBendingProcessNew"/>
    <dgm:cxn modelId="{CBA646CA-9283-42E4-B337-0A2E82A582CE}" type="presParOf" srcId="{E47BD1CE-7137-421B-B316-92EA19234A45}" destId="{2FD612A0-A664-4DBF-AE48-2EF3A9D2E35D}" srcOrd="1" destOrd="0" presId="urn:microsoft.com/office/officeart/2016/7/layout/RepeatingBendingProcessNew"/>
    <dgm:cxn modelId="{6679452A-272C-48C8-8067-56DE7C61EB51}" type="presParOf" srcId="{2FD612A0-A664-4DBF-AE48-2EF3A9D2E35D}" destId="{993938C4-BA6C-458D-B078-33A6B6A0F662}" srcOrd="0" destOrd="0" presId="urn:microsoft.com/office/officeart/2016/7/layout/RepeatingBendingProcessNew"/>
    <dgm:cxn modelId="{E4FBFCE5-C471-44F1-97E7-6ABFF7959BEB}" type="presParOf" srcId="{E47BD1CE-7137-421B-B316-92EA19234A45}" destId="{2F04CEE2-0536-4188-86B2-E5879212E487}" srcOrd="2" destOrd="0" presId="urn:microsoft.com/office/officeart/2016/7/layout/RepeatingBendingProcessNew"/>
    <dgm:cxn modelId="{0FCF46FA-0F09-45D2-974A-EF1ED1595337}" type="presParOf" srcId="{E47BD1CE-7137-421B-B316-92EA19234A45}" destId="{E96A95B8-E5F7-4747-8146-52BB206DE611}" srcOrd="3" destOrd="0" presId="urn:microsoft.com/office/officeart/2016/7/layout/RepeatingBendingProcessNew"/>
    <dgm:cxn modelId="{22D488E1-4386-4430-AED4-2C567EAECD1E}" type="presParOf" srcId="{E96A95B8-E5F7-4747-8146-52BB206DE611}" destId="{97A9DC05-3201-4F1F-BC9C-CF00FBE395CA}" srcOrd="0" destOrd="0" presId="urn:microsoft.com/office/officeart/2016/7/layout/RepeatingBendingProcessNew"/>
    <dgm:cxn modelId="{73E74B43-307B-40B3-A7B9-20D8EF0AD43A}" type="presParOf" srcId="{E47BD1CE-7137-421B-B316-92EA19234A45}" destId="{CC70F0E3-B863-44A4-9A44-52CF07774411}" srcOrd="4" destOrd="0" presId="urn:microsoft.com/office/officeart/2016/7/layout/RepeatingBendingProcessNew"/>
    <dgm:cxn modelId="{A2CB5A07-BA95-48E6-B780-C36DEDAB4991}" type="presParOf" srcId="{E47BD1CE-7137-421B-B316-92EA19234A45}" destId="{01DCB968-9956-464E-AD9D-7779E78998D8}" srcOrd="5" destOrd="0" presId="urn:microsoft.com/office/officeart/2016/7/layout/RepeatingBendingProcessNew"/>
    <dgm:cxn modelId="{3632E684-D280-418D-AF3D-867253E90B38}" type="presParOf" srcId="{01DCB968-9956-464E-AD9D-7779E78998D8}" destId="{4273F011-A33B-4B69-AE43-58A564E79CE2}" srcOrd="0" destOrd="0" presId="urn:microsoft.com/office/officeart/2016/7/layout/RepeatingBendingProcessNew"/>
    <dgm:cxn modelId="{5601AD60-1400-4DCD-BA9B-1B15AD34E480}" type="presParOf" srcId="{E47BD1CE-7137-421B-B316-92EA19234A45}" destId="{9212DC6F-F5B9-41E4-932D-6A22A755BB0D}"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FD30DAA-2EF9-4124-9F5B-491D952EB7FA}"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1A43B7AC-9B17-463D-AF2B-C6CF5E145500}">
      <dgm:prSet/>
      <dgm:spPr/>
      <dgm:t>
        <a:bodyPr/>
        <a:lstStyle/>
        <a:p>
          <a:r>
            <a:rPr lang="en-US" b="1" dirty="0"/>
            <a:t>Summary of Findings:</a:t>
          </a:r>
          <a:r>
            <a:rPr lang="en-US" dirty="0"/>
            <a:t> </a:t>
          </a:r>
        </a:p>
      </dgm:t>
    </dgm:pt>
    <dgm:pt modelId="{954BE75A-660C-4E44-B936-29C7602D70A0}" type="parTrans" cxnId="{79975A0E-ED72-48D3-B202-82B4771107D9}">
      <dgm:prSet/>
      <dgm:spPr/>
      <dgm:t>
        <a:bodyPr/>
        <a:lstStyle/>
        <a:p>
          <a:endParaRPr lang="en-US"/>
        </a:p>
      </dgm:t>
    </dgm:pt>
    <dgm:pt modelId="{6D6F980D-B95F-4710-AC02-4463775F7996}" type="sibTrans" cxnId="{79975A0E-ED72-48D3-B202-82B4771107D9}">
      <dgm:prSet/>
      <dgm:spPr/>
      <dgm:t>
        <a:bodyPr/>
        <a:lstStyle/>
        <a:p>
          <a:endParaRPr lang="en-US"/>
        </a:p>
      </dgm:t>
    </dgm:pt>
    <dgm:pt modelId="{B1699E01-246A-4BBC-946C-5E389A9CA9B5}">
      <dgm:prSet/>
      <dgm:spPr/>
      <dgm:t>
        <a:bodyPr/>
        <a:lstStyle/>
        <a:p>
          <a:r>
            <a:rPr lang="en-US" dirty="0"/>
            <a:t>Both Autoencoder and VAE models show </a:t>
          </a:r>
          <a:r>
            <a:rPr lang="en-US" b="1" dirty="0"/>
            <a:t>similar effectiveness</a:t>
          </a:r>
          <a:r>
            <a:rPr lang="en-US" dirty="0"/>
            <a:t> in fraud detection, especially in terms of </a:t>
          </a:r>
          <a:r>
            <a:rPr lang="en-US" b="1" dirty="0"/>
            <a:t>Recall</a:t>
          </a:r>
          <a:r>
            <a:rPr lang="en-US" dirty="0"/>
            <a:t> and </a:t>
          </a:r>
          <a:r>
            <a:rPr lang="en-US" b="1" dirty="0"/>
            <a:t>F1 Score</a:t>
          </a:r>
          <a:r>
            <a:rPr lang="en-US" dirty="0"/>
            <a:t>.</a:t>
          </a:r>
        </a:p>
      </dgm:t>
    </dgm:pt>
    <dgm:pt modelId="{23EF066D-8860-4641-ACA9-4CCB3112CD11}" type="parTrans" cxnId="{8CD28876-7C55-499F-B681-9A3EDE67C49C}">
      <dgm:prSet/>
      <dgm:spPr/>
      <dgm:t>
        <a:bodyPr/>
        <a:lstStyle/>
        <a:p>
          <a:endParaRPr lang="en-US"/>
        </a:p>
      </dgm:t>
    </dgm:pt>
    <dgm:pt modelId="{98B49CA7-A585-48EB-8C22-27A6A12D2822}" type="sibTrans" cxnId="{8CD28876-7C55-499F-B681-9A3EDE67C49C}">
      <dgm:prSet/>
      <dgm:spPr/>
      <dgm:t>
        <a:bodyPr/>
        <a:lstStyle/>
        <a:p>
          <a:endParaRPr lang="en-US"/>
        </a:p>
      </dgm:t>
    </dgm:pt>
    <dgm:pt modelId="{2ECA166B-CC78-4BFA-B135-4FB98AFD0C18}">
      <dgm:prSet/>
      <dgm:spPr/>
      <dgm:t>
        <a:bodyPr/>
        <a:lstStyle/>
        <a:p>
          <a:r>
            <a:rPr lang="en-US"/>
            <a:t>The </a:t>
          </a:r>
          <a:r>
            <a:rPr lang="en-US" b="1"/>
            <a:t>simple Autoencoder slightly outperforms</a:t>
          </a:r>
          <a:r>
            <a:rPr lang="en-US"/>
            <a:t> the VAE in </a:t>
          </a:r>
          <a:r>
            <a:rPr lang="en-US" b="1"/>
            <a:t>Precision</a:t>
          </a:r>
          <a:r>
            <a:rPr lang="en-US"/>
            <a:t> and </a:t>
          </a:r>
          <a:r>
            <a:rPr lang="en-US" b="1"/>
            <a:t>Accuracy</a:t>
          </a:r>
          <a:r>
            <a:rPr lang="en-US"/>
            <a:t>.</a:t>
          </a:r>
        </a:p>
      </dgm:t>
    </dgm:pt>
    <dgm:pt modelId="{9E3A4BF9-909F-4D85-AA5C-9CC1EA5F4E30}" type="parTrans" cxnId="{0441F611-D8CB-4D97-9ECB-A65A3CFBECD0}">
      <dgm:prSet/>
      <dgm:spPr/>
      <dgm:t>
        <a:bodyPr/>
        <a:lstStyle/>
        <a:p>
          <a:endParaRPr lang="en-US"/>
        </a:p>
      </dgm:t>
    </dgm:pt>
    <dgm:pt modelId="{1B589A82-B535-4134-B5C4-6307008F8AF4}" type="sibTrans" cxnId="{0441F611-D8CB-4D97-9ECB-A65A3CFBECD0}">
      <dgm:prSet/>
      <dgm:spPr/>
      <dgm:t>
        <a:bodyPr/>
        <a:lstStyle/>
        <a:p>
          <a:endParaRPr lang="en-US"/>
        </a:p>
      </dgm:t>
    </dgm:pt>
    <dgm:pt modelId="{D3BC05A7-B96C-4466-B444-AA6A7ABDEA73}">
      <dgm:prSet/>
      <dgm:spPr/>
      <dgm:t>
        <a:bodyPr/>
        <a:lstStyle/>
        <a:p>
          <a:r>
            <a:rPr lang="en-US" b="1"/>
            <a:t>High Weighted Precision</a:t>
          </a:r>
          <a:r>
            <a:rPr lang="en-US"/>
            <a:t> across both models is largely due to </a:t>
          </a:r>
          <a:r>
            <a:rPr lang="en-US" b="1"/>
            <a:t>data imbalance</a:t>
          </a:r>
          <a:r>
            <a:rPr lang="en-US"/>
            <a:t>, with non-fraud cases dominating.</a:t>
          </a:r>
        </a:p>
      </dgm:t>
    </dgm:pt>
    <dgm:pt modelId="{DF53218D-2CDB-4C98-A6AC-355AD837F418}" type="parTrans" cxnId="{C5F011BB-5FD9-4532-8B41-421A510DEFD6}">
      <dgm:prSet/>
      <dgm:spPr/>
      <dgm:t>
        <a:bodyPr/>
        <a:lstStyle/>
        <a:p>
          <a:endParaRPr lang="en-US"/>
        </a:p>
      </dgm:t>
    </dgm:pt>
    <dgm:pt modelId="{341B470F-D89A-47EE-9D84-E8F673CC38B9}" type="sibTrans" cxnId="{C5F011BB-5FD9-4532-8B41-421A510DEFD6}">
      <dgm:prSet/>
      <dgm:spPr/>
      <dgm:t>
        <a:bodyPr/>
        <a:lstStyle/>
        <a:p>
          <a:endParaRPr lang="en-US"/>
        </a:p>
      </dgm:t>
    </dgm:pt>
    <dgm:pt modelId="{B9DC5DDC-ED53-4141-B6BD-A861A3ABA162}">
      <dgm:prSet/>
      <dgm:spPr/>
      <dgm:t>
        <a:bodyPr/>
        <a:lstStyle/>
        <a:p>
          <a:r>
            <a:rPr lang="en-US"/>
            <a:t>The </a:t>
          </a:r>
          <a:r>
            <a:rPr lang="en-US" b="1"/>
            <a:t>clean and structured nature</a:t>
          </a:r>
          <a:r>
            <a:rPr lang="en-US"/>
            <a:t> of our dataset favors the simpler Autoencoder model.</a:t>
          </a:r>
        </a:p>
      </dgm:t>
    </dgm:pt>
    <dgm:pt modelId="{C95B29BD-DF19-4515-8A0B-D439CFE10438}" type="parTrans" cxnId="{F20E1540-9CE7-4A55-BD9D-19B08DAEF9F3}">
      <dgm:prSet/>
      <dgm:spPr/>
      <dgm:t>
        <a:bodyPr/>
        <a:lstStyle/>
        <a:p>
          <a:endParaRPr lang="en-US"/>
        </a:p>
      </dgm:t>
    </dgm:pt>
    <dgm:pt modelId="{0F1D9F42-8FA8-4AC4-8418-7F2BCCFF2525}" type="sibTrans" cxnId="{F20E1540-9CE7-4A55-BD9D-19B08DAEF9F3}">
      <dgm:prSet/>
      <dgm:spPr/>
      <dgm:t>
        <a:bodyPr/>
        <a:lstStyle/>
        <a:p>
          <a:endParaRPr lang="en-US"/>
        </a:p>
      </dgm:t>
    </dgm:pt>
    <dgm:pt modelId="{5B6E859B-A1CB-4C90-AEBA-175C1BA8A0EA}">
      <dgm:prSet/>
      <dgm:spPr/>
      <dgm:t>
        <a:bodyPr/>
        <a:lstStyle/>
        <a:p>
          <a:r>
            <a:rPr lang="en-US"/>
            <a:t>While </a:t>
          </a:r>
          <a:r>
            <a:rPr lang="en-US" b="1"/>
            <a:t>VAE introduces probabilistic modeling</a:t>
          </a:r>
          <a:r>
            <a:rPr lang="en-US"/>
            <a:t> and has the potential to </a:t>
          </a:r>
          <a:r>
            <a:rPr lang="en-US" b="1"/>
            <a:t>generalize better</a:t>
          </a:r>
          <a:r>
            <a:rPr lang="en-US"/>
            <a:t> in more complex scenarios, it doesn't significantly outperform in this specific dataset.</a:t>
          </a:r>
        </a:p>
      </dgm:t>
    </dgm:pt>
    <dgm:pt modelId="{776594C4-B732-4025-AC75-A307C7C779D3}" type="parTrans" cxnId="{B46125B4-B524-4718-B97F-DC4F97F980CE}">
      <dgm:prSet/>
      <dgm:spPr/>
      <dgm:t>
        <a:bodyPr/>
        <a:lstStyle/>
        <a:p>
          <a:endParaRPr lang="en-US"/>
        </a:p>
      </dgm:t>
    </dgm:pt>
    <dgm:pt modelId="{EA6B2F9A-46EF-4D17-AE63-87F17FC750C2}" type="sibTrans" cxnId="{B46125B4-B524-4718-B97F-DC4F97F980CE}">
      <dgm:prSet/>
      <dgm:spPr/>
      <dgm:t>
        <a:bodyPr/>
        <a:lstStyle/>
        <a:p>
          <a:endParaRPr lang="en-US"/>
        </a:p>
      </dgm:t>
    </dgm:pt>
    <dgm:pt modelId="{3D5B8297-FC40-4FF1-9B87-332E0AD265A0}" type="pres">
      <dgm:prSet presAssocID="{4FD30DAA-2EF9-4124-9F5B-491D952EB7FA}" presName="diagram" presStyleCnt="0">
        <dgm:presLayoutVars>
          <dgm:dir/>
          <dgm:resizeHandles val="exact"/>
        </dgm:presLayoutVars>
      </dgm:prSet>
      <dgm:spPr/>
    </dgm:pt>
    <dgm:pt modelId="{167A3C6A-6765-4FCC-9138-32EE91A4A48B}" type="pres">
      <dgm:prSet presAssocID="{1A43B7AC-9B17-463D-AF2B-C6CF5E145500}" presName="node" presStyleLbl="node1" presStyleIdx="0" presStyleCnt="1" custScaleX="86909" custScaleY="59583">
        <dgm:presLayoutVars>
          <dgm:bulletEnabled val="1"/>
        </dgm:presLayoutVars>
      </dgm:prSet>
      <dgm:spPr/>
    </dgm:pt>
  </dgm:ptLst>
  <dgm:cxnLst>
    <dgm:cxn modelId="{79975A0E-ED72-48D3-B202-82B4771107D9}" srcId="{4FD30DAA-2EF9-4124-9F5B-491D952EB7FA}" destId="{1A43B7AC-9B17-463D-AF2B-C6CF5E145500}" srcOrd="0" destOrd="0" parTransId="{954BE75A-660C-4E44-B936-29C7602D70A0}" sibTransId="{6D6F980D-B95F-4710-AC02-4463775F7996}"/>
    <dgm:cxn modelId="{0441F611-D8CB-4D97-9ECB-A65A3CFBECD0}" srcId="{1A43B7AC-9B17-463D-AF2B-C6CF5E145500}" destId="{2ECA166B-CC78-4BFA-B135-4FB98AFD0C18}" srcOrd="1" destOrd="0" parTransId="{9E3A4BF9-909F-4D85-AA5C-9CC1EA5F4E30}" sibTransId="{1B589A82-B535-4134-B5C4-6307008F8AF4}"/>
    <dgm:cxn modelId="{9139291C-D637-4041-A10C-42D79E6A63B9}" type="presOf" srcId="{1A43B7AC-9B17-463D-AF2B-C6CF5E145500}" destId="{167A3C6A-6765-4FCC-9138-32EE91A4A48B}" srcOrd="0" destOrd="0" presId="urn:microsoft.com/office/officeart/2005/8/layout/default"/>
    <dgm:cxn modelId="{8A64E02C-932A-4D63-BEC1-A18DE22A4FF9}" type="presOf" srcId="{2ECA166B-CC78-4BFA-B135-4FB98AFD0C18}" destId="{167A3C6A-6765-4FCC-9138-32EE91A4A48B}" srcOrd="0" destOrd="2" presId="urn:microsoft.com/office/officeart/2005/8/layout/default"/>
    <dgm:cxn modelId="{ECA79D31-8706-4442-8055-2B991663E9AF}" type="presOf" srcId="{4FD30DAA-2EF9-4124-9F5B-491D952EB7FA}" destId="{3D5B8297-FC40-4FF1-9B87-332E0AD265A0}" srcOrd="0" destOrd="0" presId="urn:microsoft.com/office/officeart/2005/8/layout/default"/>
    <dgm:cxn modelId="{65216335-A1BC-436E-80E3-8A32DAD4E3D0}" type="presOf" srcId="{B9DC5DDC-ED53-4141-B6BD-A861A3ABA162}" destId="{167A3C6A-6765-4FCC-9138-32EE91A4A48B}" srcOrd="0" destOrd="4" presId="urn:microsoft.com/office/officeart/2005/8/layout/default"/>
    <dgm:cxn modelId="{F20E1540-9CE7-4A55-BD9D-19B08DAEF9F3}" srcId="{1A43B7AC-9B17-463D-AF2B-C6CF5E145500}" destId="{B9DC5DDC-ED53-4141-B6BD-A861A3ABA162}" srcOrd="3" destOrd="0" parTransId="{C95B29BD-DF19-4515-8A0B-D439CFE10438}" sibTransId="{0F1D9F42-8FA8-4AC4-8418-7F2BCCFF2525}"/>
    <dgm:cxn modelId="{E9D88142-914B-4F27-9371-036FDA1A4E38}" type="presOf" srcId="{5B6E859B-A1CB-4C90-AEBA-175C1BA8A0EA}" destId="{167A3C6A-6765-4FCC-9138-32EE91A4A48B}" srcOrd="0" destOrd="5" presId="urn:microsoft.com/office/officeart/2005/8/layout/default"/>
    <dgm:cxn modelId="{8CD28876-7C55-499F-B681-9A3EDE67C49C}" srcId="{1A43B7AC-9B17-463D-AF2B-C6CF5E145500}" destId="{B1699E01-246A-4BBC-946C-5E389A9CA9B5}" srcOrd="0" destOrd="0" parTransId="{23EF066D-8860-4641-ACA9-4CCB3112CD11}" sibTransId="{98B49CA7-A585-48EB-8C22-27A6A12D2822}"/>
    <dgm:cxn modelId="{03872389-9B5C-4844-A4A0-A8ABA18CD8E7}" type="presOf" srcId="{D3BC05A7-B96C-4466-B444-AA6A7ABDEA73}" destId="{167A3C6A-6765-4FCC-9138-32EE91A4A48B}" srcOrd="0" destOrd="3" presId="urn:microsoft.com/office/officeart/2005/8/layout/default"/>
    <dgm:cxn modelId="{8869C1A2-DC8A-4E8B-A034-2C1A8B28D912}" type="presOf" srcId="{B1699E01-246A-4BBC-946C-5E389A9CA9B5}" destId="{167A3C6A-6765-4FCC-9138-32EE91A4A48B}" srcOrd="0" destOrd="1" presId="urn:microsoft.com/office/officeart/2005/8/layout/default"/>
    <dgm:cxn modelId="{B46125B4-B524-4718-B97F-DC4F97F980CE}" srcId="{1A43B7AC-9B17-463D-AF2B-C6CF5E145500}" destId="{5B6E859B-A1CB-4C90-AEBA-175C1BA8A0EA}" srcOrd="4" destOrd="0" parTransId="{776594C4-B732-4025-AC75-A307C7C779D3}" sibTransId="{EA6B2F9A-46EF-4D17-AE63-87F17FC750C2}"/>
    <dgm:cxn modelId="{C5F011BB-5FD9-4532-8B41-421A510DEFD6}" srcId="{1A43B7AC-9B17-463D-AF2B-C6CF5E145500}" destId="{D3BC05A7-B96C-4466-B444-AA6A7ABDEA73}" srcOrd="2" destOrd="0" parTransId="{DF53218D-2CDB-4C98-A6AC-355AD837F418}" sibTransId="{341B470F-D89A-47EE-9D84-E8F673CC38B9}"/>
    <dgm:cxn modelId="{89CBAE2D-88CC-4532-A1A1-FE6436549ADE}" type="presParOf" srcId="{3D5B8297-FC40-4FF1-9B87-332E0AD265A0}" destId="{167A3C6A-6765-4FCC-9138-32EE91A4A48B}"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20B50-07A9-400E-A2E5-4C2872AA34F8}">
      <dsp:nvSpPr>
        <dsp:cNvPr id="0" name=""/>
        <dsp:cNvSpPr/>
      </dsp:nvSpPr>
      <dsp:spPr>
        <a:xfrm>
          <a:off x="0" y="152901"/>
          <a:ext cx="4837113" cy="13917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to create and test out a fraud detection system, using Autoencoders, specifically simple Autoencoders and Variational Autoencoders (VAE). The process used for this is anomaly detection</a:t>
          </a:r>
        </a:p>
      </dsp:txBody>
      <dsp:txXfrm>
        <a:off x="67938" y="220839"/>
        <a:ext cx="4701237" cy="1255839"/>
      </dsp:txXfrm>
    </dsp:sp>
    <dsp:sp modelId="{57DFEE1C-23F5-453C-9D30-FF2185F00024}">
      <dsp:nvSpPr>
        <dsp:cNvPr id="0" name=""/>
        <dsp:cNvSpPr/>
      </dsp:nvSpPr>
      <dsp:spPr>
        <a:xfrm>
          <a:off x="0" y="1590696"/>
          <a:ext cx="4837113" cy="13917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Card fraud continues to be a significant threat in the banking and financial services industry, accounting for billions of dollars in loss yearly. Accurate identification of fraudulent transactions can help to mitigate financial loss and ensure consumer protection. </a:t>
          </a:r>
        </a:p>
      </dsp:txBody>
      <dsp:txXfrm>
        <a:off x="67938" y="1658634"/>
        <a:ext cx="4701237" cy="12558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9FEF8F-96B9-490F-866B-AC4B9F28BA24}">
      <dsp:nvSpPr>
        <dsp:cNvPr id="0" name=""/>
        <dsp:cNvSpPr/>
      </dsp:nvSpPr>
      <dsp:spPr>
        <a:xfrm>
          <a:off x="729055" y="2450"/>
          <a:ext cx="3373947" cy="168697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This dataset contains transactions made by credit cards in September 2013 by European cardholders over two days, where we have 492 frauds out of 284,807 transactions. </a:t>
          </a:r>
        </a:p>
      </dsp:txBody>
      <dsp:txXfrm>
        <a:off x="778465" y="51860"/>
        <a:ext cx="3275127" cy="1588153"/>
      </dsp:txXfrm>
    </dsp:sp>
    <dsp:sp modelId="{D91D9CCE-3D9B-46FE-BF3D-740718BE2F1A}">
      <dsp:nvSpPr>
        <dsp:cNvPr id="0" name=""/>
        <dsp:cNvSpPr/>
      </dsp:nvSpPr>
      <dsp:spPr>
        <a:xfrm>
          <a:off x="1066450" y="1689424"/>
          <a:ext cx="337394" cy="1265230"/>
        </a:xfrm>
        <a:custGeom>
          <a:avLst/>
          <a:gdLst/>
          <a:ahLst/>
          <a:cxnLst/>
          <a:rect l="0" t="0" r="0" b="0"/>
          <a:pathLst>
            <a:path>
              <a:moveTo>
                <a:pt x="0" y="0"/>
              </a:moveTo>
              <a:lnTo>
                <a:pt x="0" y="1265230"/>
              </a:lnTo>
              <a:lnTo>
                <a:pt x="337394" y="126523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5CE592-0991-4240-99AA-24B83CD5FE68}">
      <dsp:nvSpPr>
        <dsp:cNvPr id="0" name=""/>
        <dsp:cNvSpPr/>
      </dsp:nvSpPr>
      <dsp:spPr>
        <a:xfrm>
          <a:off x="1403845" y="2111168"/>
          <a:ext cx="2699157" cy="168697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It has 30 numerical features. Time, Amount, Class, Principal components V1 to V28 [obtained using PCA]</a:t>
          </a:r>
        </a:p>
      </dsp:txBody>
      <dsp:txXfrm>
        <a:off x="1453255" y="2160578"/>
        <a:ext cx="2600337" cy="1588153"/>
      </dsp:txXfrm>
    </dsp:sp>
    <dsp:sp modelId="{E9ADE844-E61D-4457-AC1C-15E4C6140BE2}">
      <dsp:nvSpPr>
        <dsp:cNvPr id="0" name=""/>
        <dsp:cNvSpPr/>
      </dsp:nvSpPr>
      <dsp:spPr>
        <a:xfrm>
          <a:off x="1066450" y="1689424"/>
          <a:ext cx="337394" cy="3373947"/>
        </a:xfrm>
        <a:custGeom>
          <a:avLst/>
          <a:gdLst/>
          <a:ahLst/>
          <a:cxnLst/>
          <a:rect l="0" t="0" r="0" b="0"/>
          <a:pathLst>
            <a:path>
              <a:moveTo>
                <a:pt x="0" y="0"/>
              </a:moveTo>
              <a:lnTo>
                <a:pt x="0" y="3373947"/>
              </a:lnTo>
              <a:lnTo>
                <a:pt x="337394" y="337394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E84E56-9F2D-4300-9D1B-B521D824F11C}">
      <dsp:nvSpPr>
        <dsp:cNvPr id="0" name=""/>
        <dsp:cNvSpPr/>
      </dsp:nvSpPr>
      <dsp:spPr>
        <a:xfrm>
          <a:off x="1403845" y="4219885"/>
          <a:ext cx="2699157" cy="168697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Through our models we will be predicting the class [0 or 1] for transactions</a:t>
          </a:r>
        </a:p>
      </dsp:txBody>
      <dsp:txXfrm>
        <a:off x="1453255" y="4269295"/>
        <a:ext cx="2600337" cy="15881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3C5930-F633-4D43-8972-9F523F9E3320}">
      <dsp:nvSpPr>
        <dsp:cNvPr id="0" name=""/>
        <dsp:cNvSpPr/>
      </dsp:nvSpPr>
      <dsp:spPr>
        <a:xfrm>
          <a:off x="0" y="122574"/>
          <a:ext cx="6350450"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baseline="0" dirty="0"/>
            <a:t>WandB Setup:</a:t>
          </a:r>
          <a:r>
            <a:rPr lang="en-US" sz="1900" b="0" i="0" kern="1200" baseline="0" dirty="0"/>
            <a:t> Track experiment parameters and metrics. Project : Autoencoder</a:t>
          </a:r>
          <a:endParaRPr lang="en-US" sz="1900" kern="1200" dirty="0"/>
        </a:p>
      </dsp:txBody>
      <dsp:txXfrm>
        <a:off x="36896" y="159470"/>
        <a:ext cx="6276658" cy="682028"/>
      </dsp:txXfrm>
    </dsp:sp>
    <dsp:sp modelId="{2BE220F1-B6F2-470C-97BA-2C1EEBA8DB82}">
      <dsp:nvSpPr>
        <dsp:cNvPr id="0" name=""/>
        <dsp:cNvSpPr/>
      </dsp:nvSpPr>
      <dsp:spPr>
        <a:xfrm>
          <a:off x="0" y="933114"/>
          <a:ext cx="6350450"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Models Used: Simple Autoencoder and Variational Autoencoder with hyper-parameter tuning </a:t>
          </a:r>
          <a:endParaRPr lang="en-US" sz="1900" kern="1200" dirty="0"/>
        </a:p>
      </dsp:txBody>
      <dsp:txXfrm>
        <a:off x="36896" y="970010"/>
        <a:ext cx="6276658" cy="682028"/>
      </dsp:txXfrm>
    </dsp:sp>
    <dsp:sp modelId="{D787F2ED-3D6A-40A3-81FF-A49AF979F937}">
      <dsp:nvSpPr>
        <dsp:cNvPr id="0" name=""/>
        <dsp:cNvSpPr/>
      </dsp:nvSpPr>
      <dsp:spPr>
        <a:xfrm>
          <a:off x="0" y="1743655"/>
          <a:ext cx="6350450"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baseline="0" dirty="0"/>
            <a:t>Logged Hyperparameters [For Autoencoder] </a:t>
          </a:r>
          <a:endParaRPr lang="en-US" sz="1900" kern="1200" dirty="0"/>
        </a:p>
      </dsp:txBody>
      <dsp:txXfrm>
        <a:off x="36896" y="1780551"/>
        <a:ext cx="6276658" cy="682028"/>
      </dsp:txXfrm>
    </dsp:sp>
    <dsp:sp modelId="{FB8B7F32-CA0C-4B13-AE63-6130975D9317}">
      <dsp:nvSpPr>
        <dsp:cNvPr id="0" name=""/>
        <dsp:cNvSpPr/>
      </dsp:nvSpPr>
      <dsp:spPr>
        <a:xfrm>
          <a:off x="0" y="2499475"/>
          <a:ext cx="6350450" cy="2005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62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Input Size: 30 [Number of features]</a:t>
          </a:r>
        </a:p>
        <a:p>
          <a:pPr marL="114300" lvl="1" indent="-114300" algn="l" defTabSz="666750">
            <a:lnSpc>
              <a:spcPct val="90000"/>
            </a:lnSpc>
            <a:spcBef>
              <a:spcPct val="0"/>
            </a:spcBef>
            <a:spcAft>
              <a:spcPct val="20000"/>
            </a:spcAft>
            <a:buChar char="•"/>
          </a:pPr>
          <a:r>
            <a:rPr lang="en-US" sz="1500" kern="1200" dirty="0"/>
            <a:t>Output Size: 1</a:t>
          </a:r>
        </a:p>
        <a:p>
          <a:pPr marL="114300" lvl="1" indent="-114300" algn="l" defTabSz="666750">
            <a:lnSpc>
              <a:spcPct val="90000"/>
            </a:lnSpc>
            <a:spcBef>
              <a:spcPct val="0"/>
            </a:spcBef>
            <a:spcAft>
              <a:spcPct val="20000"/>
            </a:spcAft>
            <a:buChar char="•"/>
          </a:pPr>
          <a:r>
            <a:rPr lang="en-US" sz="1500" kern="1200" dirty="0"/>
            <a:t>Epochs: 20 (initial training) +  10 (Hyperparameter-tuning)</a:t>
          </a:r>
        </a:p>
        <a:p>
          <a:pPr marL="114300" lvl="1" indent="-114300" algn="l" defTabSz="666750">
            <a:lnSpc>
              <a:spcPct val="90000"/>
            </a:lnSpc>
            <a:spcBef>
              <a:spcPct val="0"/>
            </a:spcBef>
            <a:spcAft>
              <a:spcPct val="20000"/>
            </a:spcAft>
            <a:buChar char="•"/>
          </a:pPr>
          <a:r>
            <a:rPr lang="en-US" sz="1500" kern="1200" dirty="0"/>
            <a:t>Loss Function: Mean Squared Error for simple Autoencoder and combination of Reconstruction error and KL divergence for VAE</a:t>
          </a:r>
        </a:p>
        <a:p>
          <a:pPr marL="114300" lvl="1" indent="-114300" algn="l" defTabSz="666750">
            <a:lnSpc>
              <a:spcPct val="90000"/>
            </a:lnSpc>
            <a:spcBef>
              <a:spcPct val="0"/>
            </a:spcBef>
            <a:spcAft>
              <a:spcPct val="20000"/>
            </a:spcAft>
            <a:buChar char="•"/>
          </a:pPr>
          <a:r>
            <a:rPr lang="en-US" sz="1500" kern="1200" dirty="0"/>
            <a:t> Optimizer: Adam.</a:t>
          </a:r>
        </a:p>
        <a:p>
          <a:pPr marL="114300" lvl="1" indent="-114300" algn="l" defTabSz="666750">
            <a:lnSpc>
              <a:spcPct val="90000"/>
            </a:lnSpc>
            <a:spcBef>
              <a:spcPct val="0"/>
            </a:spcBef>
            <a:spcAft>
              <a:spcPct val="20000"/>
            </a:spcAft>
            <a:buChar char="•"/>
          </a:pPr>
          <a:r>
            <a:rPr lang="en-US" sz="1500" kern="1200" dirty="0"/>
            <a:t>Learning Rate: 0.001 (initial), 0.0001,0.0005  (Hyperparameter tuning)</a:t>
          </a:r>
        </a:p>
        <a:p>
          <a:pPr marL="114300" lvl="1" indent="-114300" algn="l" defTabSz="666750">
            <a:lnSpc>
              <a:spcPct val="90000"/>
            </a:lnSpc>
            <a:spcBef>
              <a:spcPct val="0"/>
            </a:spcBef>
            <a:spcAft>
              <a:spcPct val="20000"/>
            </a:spcAft>
            <a:buChar char="•"/>
          </a:pPr>
          <a:r>
            <a:rPr lang="en-US" sz="1500" kern="1200" dirty="0" err="1"/>
            <a:t>BatchSize</a:t>
          </a:r>
          <a:r>
            <a:rPr lang="en-US" sz="1500" kern="1200" dirty="0"/>
            <a:t> : 32 (initial), 64,128 (Hyperparameter Tuning)</a:t>
          </a:r>
        </a:p>
      </dsp:txBody>
      <dsp:txXfrm>
        <a:off x="0" y="2499475"/>
        <a:ext cx="6350450" cy="2005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D612A0-A664-4DBF-AE48-2EF3A9D2E35D}">
      <dsp:nvSpPr>
        <dsp:cNvPr id="0" name=""/>
        <dsp:cNvSpPr/>
      </dsp:nvSpPr>
      <dsp:spPr>
        <a:xfrm>
          <a:off x="4752994" y="886121"/>
          <a:ext cx="681096" cy="91440"/>
        </a:xfrm>
        <a:custGeom>
          <a:avLst/>
          <a:gdLst/>
          <a:ahLst/>
          <a:cxnLst/>
          <a:rect l="0" t="0" r="0" b="0"/>
          <a:pathLst>
            <a:path>
              <a:moveTo>
                <a:pt x="0" y="45720"/>
              </a:moveTo>
              <a:lnTo>
                <a:pt x="68109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750" y="928283"/>
        <a:ext cx="35584" cy="7116"/>
      </dsp:txXfrm>
    </dsp:sp>
    <dsp:sp modelId="{23935967-2EFC-4216-A0E6-05B5E9F483E4}">
      <dsp:nvSpPr>
        <dsp:cNvPr id="0" name=""/>
        <dsp:cNvSpPr/>
      </dsp:nvSpPr>
      <dsp:spPr>
        <a:xfrm>
          <a:off x="1660459" y="3541"/>
          <a:ext cx="3094334" cy="18566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1625" tIns="159157" rIns="151625" bIns="159157" numCol="1" spcCol="1270" anchor="ctr" anchorCtr="0">
          <a:noAutofit/>
        </a:bodyPr>
        <a:lstStyle/>
        <a:p>
          <a:pPr marL="0" lvl="0" indent="0" algn="ctr" defTabSz="711200">
            <a:lnSpc>
              <a:spcPct val="90000"/>
            </a:lnSpc>
            <a:spcBef>
              <a:spcPct val="0"/>
            </a:spcBef>
            <a:spcAft>
              <a:spcPct val="35000"/>
            </a:spcAft>
            <a:buNone/>
          </a:pPr>
          <a:r>
            <a:rPr lang="en-US" sz="1600" b="1" kern="1200"/>
            <a:t>Class Imbalance</a:t>
          </a:r>
          <a:endParaRPr lang="en-US" sz="1600" kern="1200"/>
        </a:p>
      </dsp:txBody>
      <dsp:txXfrm>
        <a:off x="1660459" y="3541"/>
        <a:ext cx="3094334" cy="1856600"/>
      </dsp:txXfrm>
    </dsp:sp>
    <dsp:sp modelId="{E96A95B8-E5F7-4747-8146-52BB206DE611}">
      <dsp:nvSpPr>
        <dsp:cNvPr id="0" name=""/>
        <dsp:cNvSpPr/>
      </dsp:nvSpPr>
      <dsp:spPr>
        <a:xfrm>
          <a:off x="3207627" y="1858342"/>
          <a:ext cx="3806031" cy="681096"/>
        </a:xfrm>
        <a:custGeom>
          <a:avLst/>
          <a:gdLst/>
          <a:ahLst/>
          <a:cxnLst/>
          <a:rect l="0" t="0" r="0" b="0"/>
          <a:pathLst>
            <a:path>
              <a:moveTo>
                <a:pt x="3806031" y="0"/>
              </a:moveTo>
              <a:lnTo>
                <a:pt x="3806031" y="357648"/>
              </a:lnTo>
              <a:lnTo>
                <a:pt x="0" y="357648"/>
              </a:lnTo>
              <a:lnTo>
                <a:pt x="0" y="681096"/>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3842" y="2195332"/>
        <a:ext cx="193600" cy="7116"/>
      </dsp:txXfrm>
    </dsp:sp>
    <dsp:sp modelId="{2F04CEE2-0536-4188-86B2-E5879212E487}">
      <dsp:nvSpPr>
        <dsp:cNvPr id="0" name=""/>
        <dsp:cNvSpPr/>
      </dsp:nvSpPr>
      <dsp:spPr>
        <a:xfrm>
          <a:off x="5466491" y="3541"/>
          <a:ext cx="3094334" cy="18566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1625" tIns="159157" rIns="151625" bIns="159157" numCol="1" spcCol="1270" anchor="ctr" anchorCtr="0">
          <a:noAutofit/>
        </a:bodyPr>
        <a:lstStyle/>
        <a:p>
          <a:pPr marL="0" lvl="0" indent="0" algn="ctr" defTabSz="711200">
            <a:lnSpc>
              <a:spcPct val="90000"/>
            </a:lnSpc>
            <a:spcBef>
              <a:spcPct val="0"/>
            </a:spcBef>
            <a:spcAft>
              <a:spcPct val="35000"/>
            </a:spcAft>
            <a:buNone/>
          </a:pPr>
          <a:r>
            <a:rPr lang="en-US" sz="1600" b="1" kern="1200"/>
            <a:t>Challenge</a:t>
          </a:r>
          <a:r>
            <a:rPr lang="en-US" sz="1600" kern="1200"/>
            <a:t>: Fraudulent transactions make up a </a:t>
          </a:r>
          <a:r>
            <a:rPr lang="en-US" sz="1600" b="1" kern="1200"/>
            <a:t>very small percentage</a:t>
          </a:r>
          <a:r>
            <a:rPr lang="en-US" sz="1600" kern="1200"/>
            <a:t> of the dataset, which leads to imbalanced model performance and poor generalization.</a:t>
          </a:r>
        </a:p>
      </dsp:txBody>
      <dsp:txXfrm>
        <a:off x="5466491" y="3541"/>
        <a:ext cx="3094334" cy="1856600"/>
      </dsp:txXfrm>
    </dsp:sp>
    <dsp:sp modelId="{01DCB968-9956-464E-AD9D-7779E78998D8}">
      <dsp:nvSpPr>
        <dsp:cNvPr id="0" name=""/>
        <dsp:cNvSpPr/>
      </dsp:nvSpPr>
      <dsp:spPr>
        <a:xfrm>
          <a:off x="4752994" y="3454419"/>
          <a:ext cx="681096" cy="91440"/>
        </a:xfrm>
        <a:custGeom>
          <a:avLst/>
          <a:gdLst/>
          <a:ahLst/>
          <a:cxnLst/>
          <a:rect l="0" t="0" r="0" b="0"/>
          <a:pathLst>
            <a:path>
              <a:moveTo>
                <a:pt x="0" y="45720"/>
              </a:moveTo>
              <a:lnTo>
                <a:pt x="68109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750" y="3496580"/>
        <a:ext cx="35584" cy="7116"/>
      </dsp:txXfrm>
    </dsp:sp>
    <dsp:sp modelId="{CC70F0E3-B863-44A4-9A44-52CF07774411}">
      <dsp:nvSpPr>
        <dsp:cNvPr id="0" name=""/>
        <dsp:cNvSpPr/>
      </dsp:nvSpPr>
      <dsp:spPr>
        <a:xfrm>
          <a:off x="1660459" y="2571838"/>
          <a:ext cx="3094334" cy="18566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1625" tIns="159157" rIns="151625" bIns="159157" numCol="1" spcCol="1270" anchor="ctr" anchorCtr="0">
          <a:noAutofit/>
        </a:bodyPr>
        <a:lstStyle/>
        <a:p>
          <a:pPr marL="0" lvl="0" indent="0" algn="ctr" defTabSz="711200">
            <a:lnSpc>
              <a:spcPct val="90000"/>
            </a:lnSpc>
            <a:spcBef>
              <a:spcPct val="0"/>
            </a:spcBef>
            <a:spcAft>
              <a:spcPct val="35000"/>
            </a:spcAft>
            <a:buNone/>
          </a:pPr>
          <a:r>
            <a:rPr lang="en-US" sz="1600" b="1" kern="1200"/>
            <a:t>Mitigation</a:t>
          </a:r>
          <a:r>
            <a:rPr lang="en-US" sz="1600" kern="1200"/>
            <a:t>: We used </a:t>
          </a:r>
          <a:r>
            <a:rPr lang="en-US" sz="1600" b="1" kern="1200"/>
            <a:t>weighted precision</a:t>
          </a:r>
          <a:r>
            <a:rPr lang="en-US" sz="1600" kern="1200"/>
            <a:t> to balance the performance for both classes.</a:t>
          </a:r>
        </a:p>
      </dsp:txBody>
      <dsp:txXfrm>
        <a:off x="1660459" y="2571838"/>
        <a:ext cx="3094334" cy="1856600"/>
      </dsp:txXfrm>
    </dsp:sp>
    <dsp:sp modelId="{9212DC6F-F5B9-41E4-932D-6A22A755BB0D}">
      <dsp:nvSpPr>
        <dsp:cNvPr id="0" name=""/>
        <dsp:cNvSpPr/>
      </dsp:nvSpPr>
      <dsp:spPr>
        <a:xfrm>
          <a:off x="5466491" y="2571838"/>
          <a:ext cx="3094334" cy="18566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1625" tIns="159157" rIns="151625" bIns="159157" numCol="1" spcCol="1270" anchor="ctr" anchorCtr="0">
          <a:noAutofit/>
        </a:bodyPr>
        <a:lstStyle/>
        <a:p>
          <a:pPr marL="0" lvl="0" indent="0" algn="ctr" defTabSz="711200">
            <a:lnSpc>
              <a:spcPct val="90000"/>
            </a:lnSpc>
            <a:spcBef>
              <a:spcPct val="0"/>
            </a:spcBef>
            <a:spcAft>
              <a:spcPct val="35000"/>
            </a:spcAft>
            <a:buNone/>
          </a:pPr>
          <a:r>
            <a:rPr lang="en-US" sz="1600" b="1" kern="1200"/>
            <a:t>Resampling techniques</a:t>
          </a:r>
          <a:r>
            <a:rPr lang="en-US" sz="1600" kern="1200"/>
            <a:t> like </a:t>
          </a:r>
          <a:r>
            <a:rPr lang="en-US" sz="1600" b="1" kern="1200"/>
            <a:t>oversampling</a:t>
          </a:r>
          <a:r>
            <a:rPr lang="en-US" sz="1600" kern="1200"/>
            <a:t> the minority class or </a:t>
          </a:r>
          <a:r>
            <a:rPr lang="en-US" sz="1600" b="1" kern="1200"/>
            <a:t>undersampling</a:t>
          </a:r>
          <a:r>
            <a:rPr lang="en-US" sz="1600" kern="1200"/>
            <a:t> the majority class could be explored in future iterations to further address the imbalance</a:t>
          </a:r>
        </a:p>
      </dsp:txBody>
      <dsp:txXfrm>
        <a:off x="5466491" y="2571838"/>
        <a:ext cx="3094334" cy="1856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7A3C6A-6765-4FCC-9138-32EE91A4A48B}">
      <dsp:nvSpPr>
        <dsp:cNvPr id="0" name=""/>
        <dsp:cNvSpPr/>
      </dsp:nvSpPr>
      <dsp:spPr>
        <a:xfrm>
          <a:off x="778630" y="166043"/>
          <a:ext cx="10338405" cy="425267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1" kern="1200" dirty="0"/>
            <a:t>Summary of Findings:</a:t>
          </a:r>
          <a:r>
            <a:rPr lang="en-US" sz="3000" kern="1200" dirty="0"/>
            <a:t> </a:t>
          </a:r>
        </a:p>
        <a:p>
          <a:pPr marL="228600" lvl="1" indent="-228600" algn="l" defTabSz="1022350">
            <a:lnSpc>
              <a:spcPct val="90000"/>
            </a:lnSpc>
            <a:spcBef>
              <a:spcPct val="0"/>
            </a:spcBef>
            <a:spcAft>
              <a:spcPct val="15000"/>
            </a:spcAft>
            <a:buChar char="•"/>
          </a:pPr>
          <a:r>
            <a:rPr lang="en-US" sz="2300" kern="1200" dirty="0"/>
            <a:t>Both Autoencoder and VAE models show </a:t>
          </a:r>
          <a:r>
            <a:rPr lang="en-US" sz="2300" b="1" kern="1200" dirty="0"/>
            <a:t>similar effectiveness</a:t>
          </a:r>
          <a:r>
            <a:rPr lang="en-US" sz="2300" kern="1200" dirty="0"/>
            <a:t> in fraud detection, especially in terms of </a:t>
          </a:r>
          <a:r>
            <a:rPr lang="en-US" sz="2300" b="1" kern="1200" dirty="0"/>
            <a:t>Recall</a:t>
          </a:r>
          <a:r>
            <a:rPr lang="en-US" sz="2300" kern="1200" dirty="0"/>
            <a:t> and </a:t>
          </a:r>
          <a:r>
            <a:rPr lang="en-US" sz="2300" b="1" kern="1200" dirty="0"/>
            <a:t>F1 Score</a:t>
          </a:r>
          <a:r>
            <a:rPr lang="en-US" sz="2300" kern="1200" dirty="0"/>
            <a:t>.</a:t>
          </a:r>
        </a:p>
        <a:p>
          <a:pPr marL="228600" lvl="1" indent="-228600" algn="l" defTabSz="1022350">
            <a:lnSpc>
              <a:spcPct val="90000"/>
            </a:lnSpc>
            <a:spcBef>
              <a:spcPct val="0"/>
            </a:spcBef>
            <a:spcAft>
              <a:spcPct val="15000"/>
            </a:spcAft>
            <a:buChar char="•"/>
          </a:pPr>
          <a:r>
            <a:rPr lang="en-US" sz="2300" kern="1200"/>
            <a:t>The </a:t>
          </a:r>
          <a:r>
            <a:rPr lang="en-US" sz="2300" b="1" kern="1200"/>
            <a:t>simple Autoencoder slightly outperforms</a:t>
          </a:r>
          <a:r>
            <a:rPr lang="en-US" sz="2300" kern="1200"/>
            <a:t> the VAE in </a:t>
          </a:r>
          <a:r>
            <a:rPr lang="en-US" sz="2300" b="1" kern="1200"/>
            <a:t>Precision</a:t>
          </a:r>
          <a:r>
            <a:rPr lang="en-US" sz="2300" kern="1200"/>
            <a:t> and </a:t>
          </a:r>
          <a:r>
            <a:rPr lang="en-US" sz="2300" b="1" kern="1200"/>
            <a:t>Accuracy</a:t>
          </a:r>
          <a:r>
            <a:rPr lang="en-US" sz="2300" kern="1200"/>
            <a:t>.</a:t>
          </a:r>
        </a:p>
        <a:p>
          <a:pPr marL="228600" lvl="1" indent="-228600" algn="l" defTabSz="1022350">
            <a:lnSpc>
              <a:spcPct val="90000"/>
            </a:lnSpc>
            <a:spcBef>
              <a:spcPct val="0"/>
            </a:spcBef>
            <a:spcAft>
              <a:spcPct val="15000"/>
            </a:spcAft>
            <a:buChar char="•"/>
          </a:pPr>
          <a:r>
            <a:rPr lang="en-US" sz="2300" b="1" kern="1200"/>
            <a:t>High Weighted Precision</a:t>
          </a:r>
          <a:r>
            <a:rPr lang="en-US" sz="2300" kern="1200"/>
            <a:t> across both models is largely due to </a:t>
          </a:r>
          <a:r>
            <a:rPr lang="en-US" sz="2300" b="1" kern="1200"/>
            <a:t>data imbalance</a:t>
          </a:r>
          <a:r>
            <a:rPr lang="en-US" sz="2300" kern="1200"/>
            <a:t>, with non-fraud cases dominating.</a:t>
          </a:r>
        </a:p>
        <a:p>
          <a:pPr marL="228600" lvl="1" indent="-228600" algn="l" defTabSz="1022350">
            <a:lnSpc>
              <a:spcPct val="90000"/>
            </a:lnSpc>
            <a:spcBef>
              <a:spcPct val="0"/>
            </a:spcBef>
            <a:spcAft>
              <a:spcPct val="15000"/>
            </a:spcAft>
            <a:buChar char="•"/>
          </a:pPr>
          <a:r>
            <a:rPr lang="en-US" sz="2300" kern="1200"/>
            <a:t>The </a:t>
          </a:r>
          <a:r>
            <a:rPr lang="en-US" sz="2300" b="1" kern="1200"/>
            <a:t>clean and structured nature</a:t>
          </a:r>
          <a:r>
            <a:rPr lang="en-US" sz="2300" kern="1200"/>
            <a:t> of our dataset favors the simpler Autoencoder model.</a:t>
          </a:r>
        </a:p>
        <a:p>
          <a:pPr marL="228600" lvl="1" indent="-228600" algn="l" defTabSz="1022350">
            <a:lnSpc>
              <a:spcPct val="90000"/>
            </a:lnSpc>
            <a:spcBef>
              <a:spcPct val="0"/>
            </a:spcBef>
            <a:spcAft>
              <a:spcPct val="15000"/>
            </a:spcAft>
            <a:buChar char="•"/>
          </a:pPr>
          <a:r>
            <a:rPr lang="en-US" sz="2300" kern="1200"/>
            <a:t>While </a:t>
          </a:r>
          <a:r>
            <a:rPr lang="en-US" sz="2300" b="1" kern="1200"/>
            <a:t>VAE introduces probabilistic modeling</a:t>
          </a:r>
          <a:r>
            <a:rPr lang="en-US" sz="2300" kern="1200"/>
            <a:t> and has the potential to </a:t>
          </a:r>
          <a:r>
            <a:rPr lang="en-US" sz="2300" b="1" kern="1200"/>
            <a:t>generalize better</a:t>
          </a:r>
          <a:r>
            <a:rPr lang="en-US" sz="2300" kern="1200"/>
            <a:t> in more complex scenarios, it doesn't significantly outperform in this specific dataset.</a:t>
          </a:r>
        </a:p>
      </dsp:txBody>
      <dsp:txXfrm>
        <a:off x="778630" y="166043"/>
        <a:ext cx="10338405" cy="425267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4/7/2025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4/7/2025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3AE7E-EA95-E3B9-A6AC-D64856BB6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85FC6-8721-0F3F-C98C-1135F8E59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25809-DA18-621A-78F4-CE41A7C6D5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5EB58D-4C9E-4D67-1B90-56B0093A271D}"/>
              </a:ext>
            </a:extLst>
          </p:cNvPr>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323198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0784-BC04-577F-FAC4-7964884DB8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CBE84-9039-872E-9C29-5A0FF8DC0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C760D-6040-1E2A-E3CB-91BEBB13A3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D00401-C71C-F918-6C08-2B70A20FECDC}"/>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4256527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158DE-3D3B-F436-4EC6-F29A75FC8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B4549-7166-9584-C886-E2B8CF060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BA5CE-3876-22C2-A48D-6865B91323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3926D6-6F04-F373-2438-CDFE54CB7803}"/>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1205395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E0963-4B7F-C433-21B8-7C2C44347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F68D4-8A1D-122A-7FA5-4CA74220F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F021D-0BD2-EB14-422C-FCB45547B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186522-5802-607B-8F3C-67042C15E99F}"/>
              </a:ext>
            </a:extLst>
          </p:cNvPr>
          <p:cNvSpPr>
            <a:spLocks noGrp="1"/>
          </p:cNvSpPr>
          <p:nvPr>
            <p:ph type="sldNum" sz="quarter" idx="5"/>
          </p:nvPr>
        </p:nvSpPr>
        <p:spPr/>
        <p:txBody>
          <a:bodyPr/>
          <a:lstStyle/>
          <a:p>
            <a:fld id="{55247812-3409-784D-BAE7-ABE53735D59F}" type="slidenum">
              <a:rPr lang="en-US" smtClean="0"/>
              <a:t>14</a:t>
            </a:fld>
            <a:endParaRPr lang="en-US"/>
          </a:p>
        </p:txBody>
      </p:sp>
    </p:spTree>
    <p:extLst>
      <p:ext uri="{BB962C8B-B14F-4D97-AF65-F5344CB8AC3E}">
        <p14:creationId xmlns:p14="http://schemas.microsoft.com/office/powerpoint/2010/main" val="832122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16</a:t>
            </a:fld>
            <a:endParaRPr lang="en-US"/>
          </a:p>
        </p:txBody>
      </p:sp>
    </p:spTree>
    <p:extLst>
      <p:ext uri="{BB962C8B-B14F-4D97-AF65-F5344CB8AC3E}">
        <p14:creationId xmlns:p14="http://schemas.microsoft.com/office/powerpoint/2010/main" val="876271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19</a:t>
            </a:fld>
            <a:endParaRPr lang="en-US"/>
          </a:p>
        </p:txBody>
      </p:sp>
    </p:spTree>
    <p:extLst>
      <p:ext uri="{BB962C8B-B14F-4D97-AF65-F5344CB8AC3E}">
        <p14:creationId xmlns:p14="http://schemas.microsoft.com/office/powerpoint/2010/main" val="2986387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4/7/2025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4/7/2025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6.jpg"/><Relationship Id="rId7"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hyperlink" Target="https://pixabay.com/en/matrix-technology-tech-data-3109378/" TargetMode="External"/><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643467" y="2286000"/>
            <a:ext cx="11328400" cy="2286000"/>
          </a:xfrm>
        </p:spPr>
        <p:txBody>
          <a:bodyPr/>
          <a:lstStyle/>
          <a:p>
            <a:pPr algn="l"/>
            <a:r>
              <a:rPr lang="en-US" sz="3600" b="0" i="0" dirty="0">
                <a:effectLst/>
                <a:latin typeface="Roboto" panose="02000000000000000000" pitchFamily="2" charset="0"/>
              </a:rPr>
              <a:t> Credit card fraud detection using autoencoders</a:t>
            </a:r>
          </a:p>
        </p:txBody>
      </p:sp>
      <p:sp>
        <p:nvSpPr>
          <p:cNvPr id="5" name="TextBox 4">
            <a:extLst>
              <a:ext uri="{FF2B5EF4-FFF2-40B4-BE49-F238E27FC236}">
                <a16:creationId xmlns:a16="http://schemas.microsoft.com/office/drawing/2014/main" id="{83776F17-6BD4-0253-2FEA-63CE4F999B3A}"/>
              </a:ext>
            </a:extLst>
          </p:cNvPr>
          <p:cNvSpPr txBox="1"/>
          <p:nvPr/>
        </p:nvSpPr>
        <p:spPr>
          <a:xfrm>
            <a:off x="6189134" y="4572000"/>
            <a:ext cx="5422764" cy="1754326"/>
          </a:xfrm>
          <a:prstGeom prst="rect">
            <a:avLst/>
          </a:prstGeom>
          <a:noFill/>
        </p:spPr>
        <p:txBody>
          <a:bodyPr wrap="square" rtlCol="0">
            <a:spAutoFit/>
          </a:bodyPr>
          <a:lstStyle/>
          <a:p>
            <a:r>
              <a:rPr lang="en-US" dirty="0">
                <a:solidFill>
                  <a:schemeClr val="bg1"/>
                </a:solidFill>
              </a:rPr>
              <a:t>Submitted by: Team Alpha Neurons          </a:t>
            </a:r>
          </a:p>
          <a:p>
            <a:r>
              <a:rPr lang="en-US" dirty="0">
                <a:solidFill>
                  <a:schemeClr val="bg1"/>
                </a:solidFill>
              </a:rPr>
              <a:t>                            Sonal Shreya </a:t>
            </a:r>
          </a:p>
          <a:p>
            <a:r>
              <a:rPr lang="en-US" dirty="0">
                <a:solidFill>
                  <a:schemeClr val="bg1"/>
                </a:solidFill>
              </a:rPr>
              <a:t>	          Sumit Kumar Singh</a:t>
            </a:r>
          </a:p>
          <a:p>
            <a:r>
              <a:rPr lang="en-US" dirty="0">
                <a:solidFill>
                  <a:schemeClr val="bg1"/>
                </a:solidFill>
              </a:rPr>
              <a:t>                           Santhoshini </a:t>
            </a:r>
            <a:r>
              <a:rPr lang="en-US" dirty="0" err="1">
                <a:solidFill>
                  <a:schemeClr val="bg1"/>
                </a:solidFill>
              </a:rPr>
              <a:t>Bojanapally</a:t>
            </a:r>
            <a:endParaRPr lang="en-US" dirty="0">
              <a:solidFill>
                <a:schemeClr val="bg1"/>
              </a:solidFill>
            </a:endParaRPr>
          </a:p>
          <a:p>
            <a:r>
              <a:rPr lang="en-US" dirty="0">
                <a:solidFill>
                  <a:schemeClr val="bg1"/>
                </a:solidFill>
              </a:rPr>
              <a:t>	          </a:t>
            </a:r>
            <a:r>
              <a:rPr lang="en-US" dirty="0" err="1">
                <a:solidFill>
                  <a:schemeClr val="bg1"/>
                </a:solidFill>
              </a:rPr>
              <a:t>Sainaga</a:t>
            </a:r>
            <a:r>
              <a:rPr lang="en-US" dirty="0">
                <a:solidFill>
                  <a:schemeClr val="bg1"/>
                </a:solidFill>
              </a:rPr>
              <a:t> Soujanya</a:t>
            </a:r>
          </a:p>
          <a:p>
            <a:r>
              <a:rPr lang="en-US" dirty="0">
                <a:solidFill>
                  <a:schemeClr val="bg1"/>
                </a:solidFill>
              </a:rPr>
              <a:t>	         </a:t>
            </a:r>
          </a:p>
        </p:txBody>
      </p:sp>
    </p:spTree>
    <p:extLst>
      <p:ext uri="{BB962C8B-B14F-4D97-AF65-F5344CB8AC3E}">
        <p14:creationId xmlns:p14="http://schemas.microsoft.com/office/powerpoint/2010/main" val="63926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1993392"/>
          </a:xfrm>
          <a:noFill/>
        </p:spPr>
        <p:txBody>
          <a:bodyPr anchor="b">
            <a:noAutofit/>
          </a:bodyPr>
          <a:lstStyle/>
          <a:p>
            <a:r>
              <a:rPr lang="en-US" b="1" dirty="0" err="1"/>
              <a:t>OBjective</a:t>
            </a:r>
            <a:endParaRPr lang="en-US" b="1" dirty="0"/>
          </a:p>
        </p:txBody>
      </p:sp>
      <p:pic>
        <p:nvPicPr>
          <p:cNvPr id="15" name="Picture Placeholder 14" descr="Pile of credit cards">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0285" r="20285"/>
          <a:stretch/>
        </p:blipFill>
        <p:spPr>
          <a:xfrm>
            <a:off x="-28882" y="0"/>
            <a:ext cx="6115050" cy="6858000"/>
          </a:xfrm>
        </p:spPr>
      </p:pic>
      <p:graphicFrame>
        <p:nvGraphicFramePr>
          <p:cNvPr id="5" name="Content Placeholder 4">
            <a:extLst>
              <a:ext uri="{FF2B5EF4-FFF2-40B4-BE49-F238E27FC236}">
                <a16:creationId xmlns:a16="http://schemas.microsoft.com/office/drawing/2014/main" id="{D4D40EDA-C5A0-C40E-6DDB-9D6F72603D1C}"/>
              </a:ext>
            </a:extLst>
          </p:cNvPr>
          <p:cNvGraphicFramePr>
            <a:graphicFrameLocks noGrp="1"/>
          </p:cNvGraphicFramePr>
          <p:nvPr>
            <p:ph idx="1"/>
            <p:extLst>
              <p:ext uri="{D42A27DB-BD31-4B8C-83A1-F6EECF244321}">
                <p14:modId xmlns:p14="http://schemas.microsoft.com/office/powerpoint/2010/main" val="2437725538"/>
              </p:ext>
            </p:extLst>
          </p:nvPr>
        </p:nvGraphicFramePr>
        <p:xfrm>
          <a:off x="6562725" y="2752725"/>
          <a:ext cx="4837113" cy="31353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7201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524000" y="2286000"/>
            <a:ext cx="9144000" cy="2286000"/>
          </a:xfrm>
        </p:spPr>
        <p:txBody>
          <a:bodyPr/>
          <a:lstStyle/>
          <a:p>
            <a:r>
              <a:rPr lang="en-US" dirty="0"/>
              <a:t>DATASET loading and Processing</a:t>
            </a:r>
          </a:p>
        </p:txBody>
      </p:sp>
    </p:spTree>
    <p:extLst>
      <p:ext uri="{BB962C8B-B14F-4D97-AF65-F5344CB8AC3E}">
        <p14:creationId xmlns:p14="http://schemas.microsoft.com/office/powerpoint/2010/main" val="467869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25073" y="76200"/>
            <a:ext cx="5994400" cy="589280"/>
          </a:xfrm>
          <a:noFill/>
        </p:spPr>
        <p:txBody>
          <a:bodyPr>
            <a:noAutofit/>
          </a:bodyPr>
          <a:lstStyle/>
          <a:p>
            <a:r>
              <a:rPr lang="en-US" sz="2800" dirty="0"/>
              <a:t>DATASET- Kaggle Credit card</a:t>
            </a:r>
          </a:p>
        </p:txBody>
      </p:sp>
      <p:pic>
        <p:nvPicPr>
          <p:cNvPr id="91" name="Picture Placeholder 90" descr="Close-up of credit card on keyboard">
            <a:extLst>
              <a:ext uri="{FF2B5EF4-FFF2-40B4-BE49-F238E27FC236}">
                <a16:creationId xmlns:a16="http://schemas.microsoft.com/office/drawing/2014/main" id="{BC622EA4-CCB7-907A-0126-D0A68A5DC78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16904" r="16904"/>
          <a:stretch/>
        </p:blipFill>
        <p:spPr>
          <a:xfrm flipH="1">
            <a:off x="6086167" y="-22225"/>
            <a:ext cx="6080760" cy="6902450"/>
          </a:xfrm>
        </p:spPr>
      </p:pic>
      <p:graphicFrame>
        <p:nvGraphicFramePr>
          <p:cNvPr id="6" name="Diagram 5">
            <a:extLst>
              <a:ext uri="{FF2B5EF4-FFF2-40B4-BE49-F238E27FC236}">
                <a16:creationId xmlns:a16="http://schemas.microsoft.com/office/drawing/2014/main" id="{BC59E8C5-5C48-2159-1D7A-24536A6AFE94}"/>
              </a:ext>
            </a:extLst>
          </p:cNvPr>
          <p:cNvGraphicFramePr/>
          <p:nvPr>
            <p:extLst>
              <p:ext uri="{D42A27DB-BD31-4B8C-83A1-F6EECF244321}">
                <p14:modId xmlns:p14="http://schemas.microsoft.com/office/powerpoint/2010/main" val="1346241183"/>
              </p:ext>
            </p:extLst>
          </p:nvPr>
        </p:nvGraphicFramePr>
        <p:xfrm>
          <a:off x="517670" y="809623"/>
          <a:ext cx="4832059" cy="5909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30438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6"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6" y="156715"/>
            <a:ext cx="4096308" cy="940565"/>
          </a:xfrm>
          <a:noFill/>
        </p:spPr>
        <p:txBody>
          <a:bodyPr anchor="ctr"/>
          <a:lstStyle/>
          <a:p>
            <a:r>
              <a:rPr lang="en-US" dirty="0"/>
              <a:t>Data Processing</a:t>
            </a:r>
          </a:p>
        </p:txBody>
      </p:sp>
      <p:pic>
        <p:nvPicPr>
          <p:cNvPr id="20" name="Picture Placeholder 7" descr="3D pie chart graphic">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9170" r="29170"/>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5" y="948267"/>
            <a:ext cx="6670175" cy="5156200"/>
          </a:xfrm>
          <a:noFill/>
        </p:spPr>
        <p:txBody>
          <a:bodyPr vert="horz" lIns="91440" tIns="45720" rIns="91440" bIns="45720" rtlCol="0" anchor="t">
            <a:normAutofit/>
          </a:bodyPr>
          <a:lstStyle/>
          <a:p>
            <a:pPr marL="0" indent="0">
              <a:buNone/>
            </a:pPr>
            <a:r>
              <a:rPr lang="en-US" sz="2000" b="1" dirty="0"/>
              <a:t>Below Transformations were applied to the dataset</a:t>
            </a:r>
          </a:p>
          <a:p>
            <a:pPr marL="342900" marR="0" lvl="0" indent="-342900">
              <a:lnSpc>
                <a:spcPct val="115000"/>
              </a:lnSpc>
              <a:buFont typeface="Symbol" panose="05050102010706020507" pitchFamily="18"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Standardization of amount and time. </a:t>
            </a:r>
          </a:p>
          <a:p>
            <a:pPr marL="342900" marR="0" lvl="0" indent="-342900">
              <a:lnSpc>
                <a:spcPct val="115000"/>
              </a:lnSpc>
              <a:buFont typeface="Symbol" panose="05050102010706020507" pitchFamily="18" charset="2"/>
              <a:buChar char=""/>
            </a:pPr>
            <a:r>
              <a:rPr lang="en-US" kern="100" dirty="0">
                <a:latin typeface="Times New Roman" panose="02020603050405020304" pitchFamily="18" charset="0"/>
                <a:ea typeface="Aptos" panose="020B0004020202020204" pitchFamily="34" charset="0"/>
                <a:cs typeface="Times New Roman" panose="02020603050405020304" pitchFamily="18" charset="0"/>
              </a:rPr>
              <a:t>Scaled the features using </a:t>
            </a:r>
            <a:r>
              <a:rPr lang="en-US" kern="100" dirty="0" err="1">
                <a:latin typeface="Times New Roman" panose="02020603050405020304" pitchFamily="18" charset="0"/>
                <a:ea typeface="Aptos" panose="020B0004020202020204" pitchFamily="34" charset="0"/>
                <a:cs typeface="Times New Roman" panose="02020603050405020304" pitchFamily="18" charset="0"/>
              </a:rPr>
              <a:t>StandardScaler</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Symbol" panose="05050102010706020507" pitchFamily="18"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standard transactions to be isolated for training (unsupervised learning)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Symbol" panose="05050102010706020507" pitchFamily="18"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Test set construction — containing both fraud and non-fraud examples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buFont typeface="Symbol" panose="05050102010706020507" pitchFamily="18"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Split the input data into train and test sets while retaining the same distribution of the target class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Font typeface="Symbol" panose="05050102010706020507" pitchFamily="18"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Created Test and Train tensors using data loaders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6667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46E3C-3DA1-9D70-2548-DEF26D534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F0F0F-8B89-AAC9-FDA4-38D9782F75E8}"/>
              </a:ext>
            </a:extLst>
          </p:cNvPr>
          <p:cNvSpPr>
            <a:spLocks noGrp="1"/>
          </p:cNvSpPr>
          <p:nvPr>
            <p:ph type="title"/>
          </p:nvPr>
        </p:nvSpPr>
        <p:spPr>
          <a:xfrm>
            <a:off x="5115425" y="173291"/>
            <a:ext cx="6241651" cy="1710354"/>
          </a:xfrm>
          <a:noFill/>
        </p:spPr>
        <p:txBody>
          <a:bodyPr anchor="ctr"/>
          <a:lstStyle/>
          <a:p>
            <a:r>
              <a:rPr lang="en-US" dirty="0"/>
              <a:t>Experiment Tracking with Weights &amp; Biases (</a:t>
            </a:r>
            <a:r>
              <a:rPr lang="en-US" dirty="0" err="1"/>
              <a:t>WandB</a:t>
            </a:r>
            <a:r>
              <a:rPr lang="en-US" dirty="0"/>
              <a:t>)</a:t>
            </a:r>
          </a:p>
        </p:txBody>
      </p:sp>
      <p:pic>
        <p:nvPicPr>
          <p:cNvPr id="20" name="Picture Placeholder 7">
            <a:extLst>
              <a:ext uri="{FF2B5EF4-FFF2-40B4-BE49-F238E27FC236}">
                <a16:creationId xmlns:a16="http://schemas.microsoft.com/office/drawing/2014/main" id="{029664DF-2C26-F43D-357D-934DCD0B3F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8475" r="28475"/>
          <a:stretch/>
        </p:blipFill>
        <p:spPr>
          <a:xfrm>
            <a:off x="0" y="0"/>
            <a:ext cx="4287838" cy="6858000"/>
          </a:xfrm>
        </p:spPr>
      </p:pic>
      <p:graphicFrame>
        <p:nvGraphicFramePr>
          <p:cNvPr id="7" name="Content Placeholder 6">
            <a:extLst>
              <a:ext uri="{FF2B5EF4-FFF2-40B4-BE49-F238E27FC236}">
                <a16:creationId xmlns:a16="http://schemas.microsoft.com/office/drawing/2014/main" id="{2FDC642A-A0AF-1823-DAD9-C16EB033D3F0}"/>
              </a:ext>
            </a:extLst>
          </p:cNvPr>
          <p:cNvGraphicFramePr>
            <a:graphicFrameLocks noGrp="1"/>
          </p:cNvGraphicFramePr>
          <p:nvPr>
            <p:ph idx="1"/>
            <p:extLst>
              <p:ext uri="{D42A27DB-BD31-4B8C-83A1-F6EECF244321}">
                <p14:modId xmlns:p14="http://schemas.microsoft.com/office/powerpoint/2010/main" val="2468303555"/>
              </p:ext>
            </p:extLst>
          </p:nvPr>
        </p:nvGraphicFramePr>
        <p:xfrm>
          <a:off x="5120190" y="1493520"/>
          <a:ext cx="6350450" cy="462788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Rectangle 2">
            <a:extLst>
              <a:ext uri="{FF2B5EF4-FFF2-40B4-BE49-F238E27FC236}">
                <a16:creationId xmlns:a16="http://schemas.microsoft.com/office/drawing/2014/main" id="{C87EB54F-F041-F6D3-65ED-7CE8C438F9A2}"/>
              </a:ext>
            </a:extLst>
          </p:cNvPr>
          <p:cNvSpPr>
            <a:spLocks noChangeArrowheads="1"/>
          </p:cNvSpPr>
          <p:nvPr/>
        </p:nvSpPr>
        <p:spPr bwMode="auto">
          <a:xfrm>
            <a:off x="397933" y="1028468"/>
            <a:ext cx="4058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700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7"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2FB225B-68DC-A8A6-BD7C-340757F4C55B}"/>
              </a:ext>
            </a:extLst>
          </p:cNvPr>
          <p:cNvSpPr>
            <a:spLocks noGrp="1"/>
          </p:cNvSpPr>
          <p:nvPr>
            <p:ph type="title"/>
          </p:nvPr>
        </p:nvSpPr>
        <p:spPr>
          <a:xfrm>
            <a:off x="838200" y="568960"/>
            <a:ext cx="6172200" cy="678688"/>
          </a:xfrm>
        </p:spPr>
        <p:txBody>
          <a:bodyPr vert="horz" lIns="91440" tIns="45720" rIns="91440" bIns="45720" rtlCol="0" anchor="b" anchorCtr="0">
            <a:normAutofit fontScale="90000"/>
          </a:bodyPr>
          <a:lstStyle/>
          <a:p>
            <a:r>
              <a:rPr lang="en-US" kern="1200" cap="all" spc="300" baseline="0" dirty="0">
                <a:latin typeface="+mj-lt"/>
                <a:ea typeface="+mj-ea"/>
                <a:cs typeface="+mj-cs"/>
              </a:rPr>
              <a:t>Architecture overview- Simple Autoencoder</a:t>
            </a:r>
          </a:p>
        </p:txBody>
      </p:sp>
      <p:sp>
        <p:nvSpPr>
          <p:cNvPr id="20" name="TextBox 19">
            <a:extLst>
              <a:ext uri="{FF2B5EF4-FFF2-40B4-BE49-F238E27FC236}">
                <a16:creationId xmlns:a16="http://schemas.microsoft.com/office/drawing/2014/main" id="{DB6DEC9B-E464-059D-5DE3-3F3D8A376B32}"/>
              </a:ext>
            </a:extLst>
          </p:cNvPr>
          <p:cNvSpPr txBox="1"/>
          <p:nvPr/>
        </p:nvSpPr>
        <p:spPr>
          <a:xfrm>
            <a:off x="838200" y="1564640"/>
            <a:ext cx="5511800" cy="4597329"/>
          </a:xfrm>
          <a:prstGeom prst="rect">
            <a:avLst/>
          </a:prstGeom>
        </p:spPr>
        <p:txBody>
          <a:bodyPr vert="horz" lIns="91440" tIns="45720" rIns="91440" bIns="45720" rtlCol="0">
            <a:normAutofit lnSpcReduction="10000"/>
          </a:bodyPr>
          <a:lstStyle/>
          <a:p>
            <a:pPr>
              <a:lnSpc>
                <a:spcPct val="90000"/>
              </a:lnSpc>
              <a:spcBef>
                <a:spcPts val="1000"/>
              </a:spcBef>
              <a:buClr>
                <a:schemeClr val="accent2"/>
              </a:buClr>
              <a:buFont typeface="Wingdings" panose="05000000000000000000" pitchFamily="2" charset="2"/>
            </a:pPr>
            <a:r>
              <a:rPr lang="en-US" sz="1600" dirty="0"/>
              <a:t>We initially experimented with Simple Autoencoder model where we will compress the input into smaller format and reconstruct it back to the original form it has the below layers</a:t>
            </a:r>
          </a:p>
          <a:p>
            <a:pPr marL="285750" indent="-285750">
              <a:lnSpc>
                <a:spcPct val="90000"/>
              </a:lnSpc>
              <a:spcBef>
                <a:spcPts val="1000"/>
              </a:spcBef>
              <a:buClr>
                <a:schemeClr val="accent2"/>
              </a:buClr>
              <a:buFont typeface="Arial" panose="020B0604020202020204" pitchFamily="34" charset="0"/>
              <a:buChar char="•"/>
            </a:pPr>
            <a:r>
              <a:rPr lang="en-US" sz="1600" dirty="0"/>
              <a:t>Input : dimension 30</a:t>
            </a: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Encoder:  Dense(32) → Dense(16, RELU) → Dense(8, RELU)  [This is  our bottleneck]</a:t>
            </a: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Decode: Dense(8, RELU) -&gt; Dense(16, RELU),Dense(30, Linear) [To match the input dimension]</a:t>
            </a: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are using Mean Squared Error (MSE) Loss as the loss function.</a:t>
            </a: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Optimizer used is Adam optimizer</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learning rate is set to 0.001</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90000"/>
              </a:lnSpc>
              <a:spcBef>
                <a:spcPts val="1000"/>
              </a:spcBef>
              <a:buClr>
                <a:schemeClr val="accent2"/>
              </a:buClr>
              <a:buFont typeface="Arial" panose="020B0604020202020204" pitchFamily="34" charset="0"/>
              <a:buChar char="•"/>
            </a:pPr>
            <a:r>
              <a:rPr lang="en-US" sz="1800" dirty="0">
                <a:effectLst/>
                <a:latin typeface="Times New Roman" panose="02020603050405020304" pitchFamily="18" charset="0"/>
                <a:ea typeface="Aptos" panose="020B0004020202020204" pitchFamily="34" charset="0"/>
              </a:rPr>
              <a:t>The model will be trained for 20 epochs </a:t>
            </a:r>
            <a:r>
              <a:rPr lang="en-US" sz="1600" dirty="0"/>
              <a:t>. </a:t>
            </a:r>
            <a:endParaRPr lang="en-US" sz="1600" b="1" dirty="0"/>
          </a:p>
          <a:p>
            <a:pPr>
              <a:lnSpc>
                <a:spcPct val="90000"/>
              </a:lnSpc>
              <a:spcBef>
                <a:spcPts val="1000"/>
              </a:spcBef>
              <a:buClr>
                <a:schemeClr val="accent2"/>
              </a:buClr>
              <a:buFont typeface="Wingdings" panose="05000000000000000000" pitchFamily="2" charset="2"/>
            </a:pPr>
            <a:r>
              <a:rPr lang="en-US" sz="1600" b="1" dirty="0"/>
              <a:t> </a:t>
            </a:r>
            <a:endParaRPr lang="en-US" sz="1600" dirty="0"/>
          </a:p>
        </p:txBody>
      </p:sp>
      <p:pic>
        <p:nvPicPr>
          <p:cNvPr id="7" name="Picture Placeholder 6" descr="Angle view of circuit shaped like a brain">
            <a:extLst>
              <a:ext uri="{FF2B5EF4-FFF2-40B4-BE49-F238E27FC236}">
                <a16:creationId xmlns:a16="http://schemas.microsoft.com/office/drawing/2014/main" id="{1CA7EF53-16EF-CFCE-4729-5137693A3967}"/>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6135" r="26135"/>
          <a:stretch>
            <a:fillRect/>
          </a:stretch>
        </p:blipFill>
        <p:spPr>
          <a:xfrm>
            <a:off x="7500938" y="-22225"/>
            <a:ext cx="4714875" cy="6880225"/>
          </a:xfrm>
        </p:spPr>
      </p:pic>
    </p:spTree>
    <p:extLst>
      <p:ext uri="{BB962C8B-B14F-4D97-AF65-F5344CB8AC3E}">
        <p14:creationId xmlns:p14="http://schemas.microsoft.com/office/powerpoint/2010/main" val="167993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306356" y="-162472"/>
            <a:ext cx="8975564" cy="1325563"/>
          </a:xfrm>
        </p:spPr>
        <p:txBody>
          <a:bodyPr anchor="ctr">
            <a:normAutofit/>
          </a:bodyPr>
          <a:lstStyle/>
          <a:p>
            <a:r>
              <a:rPr lang="en-US" dirty="0"/>
              <a:t>Model Performance &amp; Results</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12430"/>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17" name="Table 16">
            <a:extLst>
              <a:ext uri="{FF2B5EF4-FFF2-40B4-BE49-F238E27FC236}">
                <a16:creationId xmlns:a16="http://schemas.microsoft.com/office/drawing/2014/main" id="{D8D39CC6-C241-EA80-BA2F-9310CA8293E7}"/>
              </a:ext>
            </a:extLst>
          </p:cNvPr>
          <p:cNvGraphicFramePr>
            <a:graphicFrameLocks noGrp="1"/>
          </p:cNvGraphicFramePr>
          <p:nvPr>
            <p:extLst>
              <p:ext uri="{D42A27DB-BD31-4B8C-83A1-F6EECF244321}">
                <p14:modId xmlns:p14="http://schemas.microsoft.com/office/powerpoint/2010/main" val="1693366971"/>
              </p:ext>
            </p:extLst>
          </p:nvPr>
        </p:nvGraphicFramePr>
        <p:xfrm>
          <a:off x="1091895" y="1005840"/>
          <a:ext cx="9793749" cy="5226499"/>
        </p:xfrm>
        <a:graphic>
          <a:graphicData uri="http://schemas.openxmlformats.org/drawingml/2006/table">
            <a:tbl>
              <a:tblPr>
                <a:tableStyleId>{D113A9D2-9D6B-4929-AA2D-F23B5EE8CBE7}</a:tableStyleId>
              </a:tblPr>
              <a:tblGrid>
                <a:gridCol w="3264583">
                  <a:extLst>
                    <a:ext uri="{9D8B030D-6E8A-4147-A177-3AD203B41FA5}">
                      <a16:colId xmlns:a16="http://schemas.microsoft.com/office/drawing/2014/main" val="3563694980"/>
                    </a:ext>
                  </a:extLst>
                </a:gridCol>
                <a:gridCol w="3264583">
                  <a:extLst>
                    <a:ext uri="{9D8B030D-6E8A-4147-A177-3AD203B41FA5}">
                      <a16:colId xmlns:a16="http://schemas.microsoft.com/office/drawing/2014/main" val="1611989764"/>
                    </a:ext>
                  </a:extLst>
                </a:gridCol>
                <a:gridCol w="3264583">
                  <a:extLst>
                    <a:ext uri="{9D8B030D-6E8A-4147-A177-3AD203B41FA5}">
                      <a16:colId xmlns:a16="http://schemas.microsoft.com/office/drawing/2014/main" val="2310833182"/>
                    </a:ext>
                  </a:extLst>
                </a:gridCol>
              </a:tblGrid>
              <a:tr h="330811">
                <a:tc>
                  <a:txBody>
                    <a:bodyPr/>
                    <a:lstStyle/>
                    <a:p>
                      <a:r>
                        <a:rPr lang="en-US" sz="1400" b="1"/>
                        <a:t>Metric</a:t>
                      </a:r>
                      <a:endParaRPr lang="en-US" sz="1400"/>
                    </a:p>
                  </a:txBody>
                  <a:tcPr marL="69069" marR="69069" marT="34534" marB="34534" anchor="ctr"/>
                </a:tc>
                <a:tc>
                  <a:txBody>
                    <a:bodyPr/>
                    <a:lstStyle/>
                    <a:p>
                      <a:r>
                        <a:rPr lang="en-US" sz="1400" b="1"/>
                        <a:t>Value</a:t>
                      </a:r>
                      <a:endParaRPr lang="en-US" sz="1400"/>
                    </a:p>
                  </a:txBody>
                  <a:tcPr marL="69069" marR="69069" marT="34534" marB="34534" anchor="ctr"/>
                </a:tc>
                <a:tc>
                  <a:txBody>
                    <a:bodyPr/>
                    <a:lstStyle/>
                    <a:p>
                      <a:r>
                        <a:rPr lang="en-US" sz="1400" b="1" dirty="0"/>
                        <a:t>Interpretation</a:t>
                      </a:r>
                      <a:endParaRPr lang="en-US" sz="1400" dirty="0"/>
                    </a:p>
                  </a:txBody>
                  <a:tcPr marL="69069" marR="69069" marT="34534" marB="34534" anchor="ctr"/>
                </a:tc>
                <a:extLst>
                  <a:ext uri="{0D108BD9-81ED-4DB2-BD59-A6C34878D82A}">
                    <a16:rowId xmlns:a16="http://schemas.microsoft.com/office/drawing/2014/main" val="1566535426"/>
                  </a:ext>
                </a:extLst>
              </a:tr>
              <a:tr h="580722">
                <a:tc>
                  <a:txBody>
                    <a:bodyPr/>
                    <a:lstStyle/>
                    <a:p>
                      <a:r>
                        <a:rPr lang="en-US" sz="1400" b="1" dirty="0"/>
                        <a:t>Anomaly Threshold</a:t>
                      </a:r>
                      <a:endParaRPr lang="en-US" sz="1400" dirty="0"/>
                    </a:p>
                  </a:txBody>
                  <a:tcPr marL="69069" marR="69069" marT="34534" marB="34534" anchor="ctr"/>
                </a:tc>
                <a:tc>
                  <a:txBody>
                    <a:bodyPr/>
                    <a:lstStyle/>
                    <a:p>
                      <a:r>
                        <a:rPr lang="en-US" sz="1400"/>
                        <a:t>3.53673</a:t>
                      </a:r>
                    </a:p>
                  </a:txBody>
                  <a:tcPr marL="69069" marR="69069" marT="34534" marB="34534" anchor="ctr"/>
                </a:tc>
                <a:tc>
                  <a:txBody>
                    <a:bodyPr/>
                    <a:lstStyle/>
                    <a:p>
                      <a:r>
                        <a:rPr lang="en-US" sz="1400" dirty="0"/>
                        <a:t>Transactions with error &gt; threshold are classified as fraud</a:t>
                      </a:r>
                    </a:p>
                  </a:txBody>
                  <a:tcPr marL="69069" marR="69069" marT="34534" marB="34534" anchor="ctr"/>
                </a:tc>
                <a:extLst>
                  <a:ext uri="{0D108BD9-81ED-4DB2-BD59-A6C34878D82A}">
                    <a16:rowId xmlns:a16="http://schemas.microsoft.com/office/drawing/2014/main" val="3997374761"/>
                  </a:ext>
                </a:extLst>
              </a:tr>
              <a:tr h="580722">
                <a:tc>
                  <a:txBody>
                    <a:bodyPr/>
                    <a:lstStyle/>
                    <a:p>
                      <a:r>
                        <a:rPr lang="en-US" sz="1400" b="1"/>
                        <a:t>Accuracy</a:t>
                      </a:r>
                      <a:endParaRPr lang="en-US" sz="1400"/>
                    </a:p>
                  </a:txBody>
                  <a:tcPr marL="69069" marR="69069" marT="34534" marB="34534" anchor="ctr"/>
                </a:tc>
                <a:tc>
                  <a:txBody>
                    <a:bodyPr/>
                    <a:lstStyle/>
                    <a:p>
                      <a:r>
                        <a:rPr lang="en-US" sz="1400" dirty="0"/>
                        <a:t>98.1%</a:t>
                      </a:r>
                    </a:p>
                  </a:txBody>
                  <a:tcPr marL="69069" marR="69069" marT="34534" marB="34534" anchor="ctr"/>
                </a:tc>
                <a:tc>
                  <a:txBody>
                    <a:bodyPr/>
                    <a:lstStyle/>
                    <a:p>
                      <a:r>
                        <a:rPr lang="en-US" sz="1400" dirty="0"/>
                        <a:t>High accuracy, but may be misleading due to class imbalance</a:t>
                      </a:r>
                    </a:p>
                  </a:txBody>
                  <a:tcPr marL="69069" marR="69069" marT="34534" marB="34534" anchor="ctr"/>
                </a:tc>
                <a:extLst>
                  <a:ext uri="{0D108BD9-81ED-4DB2-BD59-A6C34878D82A}">
                    <a16:rowId xmlns:a16="http://schemas.microsoft.com/office/drawing/2014/main" val="3333443618"/>
                  </a:ext>
                </a:extLst>
              </a:tr>
              <a:tr h="580722">
                <a:tc>
                  <a:txBody>
                    <a:bodyPr/>
                    <a:lstStyle/>
                    <a:p>
                      <a:r>
                        <a:rPr lang="en-US" sz="1400" b="1" dirty="0"/>
                        <a:t>AUC (ROC Curve)</a:t>
                      </a:r>
                      <a:endParaRPr lang="en-US" sz="1400" dirty="0"/>
                    </a:p>
                  </a:txBody>
                  <a:tcPr marL="69069" marR="69069" marT="34534" marB="34534" anchor="ctr"/>
                </a:tc>
                <a:tc>
                  <a:txBody>
                    <a:bodyPr/>
                    <a:lstStyle/>
                    <a:p>
                      <a:r>
                        <a:rPr lang="en-US" sz="1400" dirty="0"/>
                        <a:t>0.95</a:t>
                      </a:r>
                    </a:p>
                  </a:txBody>
                  <a:tcPr marL="69069" marR="69069" marT="34534" marB="34534" anchor="ctr"/>
                </a:tc>
                <a:tc>
                  <a:txBody>
                    <a:bodyPr/>
                    <a:lstStyle/>
                    <a:p>
                      <a:r>
                        <a:rPr lang="en-US" sz="1400" dirty="0"/>
                        <a:t>Excellent discrimination between fraud and non-fraud</a:t>
                      </a:r>
                    </a:p>
                  </a:txBody>
                  <a:tcPr marL="69069" marR="69069" marT="34534" marB="34534" anchor="ctr"/>
                </a:tc>
                <a:extLst>
                  <a:ext uri="{0D108BD9-81ED-4DB2-BD59-A6C34878D82A}">
                    <a16:rowId xmlns:a16="http://schemas.microsoft.com/office/drawing/2014/main" val="364813943"/>
                  </a:ext>
                </a:extLst>
              </a:tr>
              <a:tr h="580722">
                <a:tc>
                  <a:txBody>
                    <a:bodyPr/>
                    <a:lstStyle/>
                    <a:p>
                      <a:r>
                        <a:rPr lang="en-US" sz="1400" b="1"/>
                        <a:t>F1 Score</a:t>
                      </a:r>
                      <a:endParaRPr lang="en-US" sz="1400"/>
                    </a:p>
                  </a:txBody>
                  <a:tcPr marL="69069" marR="69069" marT="34534" marB="34534" anchor="ctr"/>
                </a:tc>
                <a:tc>
                  <a:txBody>
                    <a:bodyPr/>
                    <a:lstStyle/>
                    <a:p>
                      <a:r>
                        <a:rPr lang="en-US" sz="1400" dirty="0"/>
                        <a:t>0.42</a:t>
                      </a:r>
                    </a:p>
                  </a:txBody>
                  <a:tcPr marL="69069" marR="69069" marT="34534" marB="34534" anchor="ctr"/>
                </a:tc>
                <a:tc>
                  <a:txBody>
                    <a:bodyPr/>
                    <a:lstStyle/>
                    <a:p>
                      <a:r>
                        <a:rPr lang="en-US" sz="1400"/>
                        <a:t>Moderate balance between precision and recall</a:t>
                      </a:r>
                    </a:p>
                  </a:txBody>
                  <a:tcPr marL="69069" marR="69069" marT="34534" marB="34534" anchor="ctr"/>
                </a:tc>
                <a:extLst>
                  <a:ext uri="{0D108BD9-81ED-4DB2-BD59-A6C34878D82A}">
                    <a16:rowId xmlns:a16="http://schemas.microsoft.com/office/drawing/2014/main" val="1920238301"/>
                  </a:ext>
                </a:extLst>
              </a:tr>
              <a:tr h="580722">
                <a:tc>
                  <a:txBody>
                    <a:bodyPr/>
                    <a:lstStyle/>
                    <a:p>
                      <a:r>
                        <a:rPr lang="en-US" sz="1400" b="1"/>
                        <a:t>Loss</a:t>
                      </a:r>
                      <a:endParaRPr lang="en-US" sz="1400"/>
                    </a:p>
                  </a:txBody>
                  <a:tcPr marL="69069" marR="69069" marT="34534" marB="34534" anchor="ctr"/>
                </a:tc>
                <a:tc>
                  <a:txBody>
                    <a:bodyPr/>
                    <a:lstStyle/>
                    <a:p>
                      <a:r>
                        <a:rPr lang="en-US" sz="1400"/>
                        <a:t>0.71789</a:t>
                      </a:r>
                    </a:p>
                  </a:txBody>
                  <a:tcPr marL="69069" marR="69069" marT="34534" marB="34534" anchor="ctr"/>
                </a:tc>
                <a:tc>
                  <a:txBody>
                    <a:bodyPr/>
                    <a:lstStyle/>
                    <a:p>
                      <a:r>
                        <a:rPr lang="en-US" sz="1400"/>
                        <a:t>Average reconstruction error from the autoencoder</a:t>
                      </a:r>
                    </a:p>
                  </a:txBody>
                  <a:tcPr marL="69069" marR="69069" marT="34534" marB="34534" anchor="ctr"/>
                </a:tc>
                <a:extLst>
                  <a:ext uri="{0D108BD9-81ED-4DB2-BD59-A6C34878D82A}">
                    <a16:rowId xmlns:a16="http://schemas.microsoft.com/office/drawing/2014/main" val="2405084823"/>
                  </a:ext>
                </a:extLst>
              </a:tr>
              <a:tr h="580722">
                <a:tc>
                  <a:txBody>
                    <a:bodyPr/>
                    <a:lstStyle/>
                    <a:p>
                      <a:r>
                        <a:rPr lang="en-US" sz="1400" b="1"/>
                        <a:t>Precision</a:t>
                      </a:r>
                      <a:endParaRPr lang="en-US" sz="1400"/>
                    </a:p>
                  </a:txBody>
                  <a:tcPr marL="69069" marR="69069" marT="34534" marB="34534" anchor="ctr"/>
                </a:tc>
                <a:tc>
                  <a:txBody>
                    <a:bodyPr/>
                    <a:lstStyle/>
                    <a:p>
                      <a:r>
                        <a:rPr lang="en-US" sz="1400"/>
                        <a:t>28.5%</a:t>
                      </a:r>
                    </a:p>
                  </a:txBody>
                  <a:tcPr marL="69069" marR="69069" marT="34534" marB="34534" anchor="ctr"/>
                </a:tc>
                <a:tc>
                  <a:txBody>
                    <a:bodyPr/>
                    <a:lstStyle/>
                    <a:p>
                      <a:r>
                        <a:rPr lang="en-US" sz="1400"/>
                        <a:t>Only 28.5% of predicted fraud cases were actual fraud</a:t>
                      </a:r>
                    </a:p>
                  </a:txBody>
                  <a:tcPr marL="69069" marR="69069" marT="34534" marB="34534" anchor="ctr"/>
                </a:tc>
                <a:extLst>
                  <a:ext uri="{0D108BD9-81ED-4DB2-BD59-A6C34878D82A}">
                    <a16:rowId xmlns:a16="http://schemas.microsoft.com/office/drawing/2014/main" val="2661583738"/>
                  </a:ext>
                </a:extLst>
              </a:tr>
              <a:tr h="580722">
                <a:tc>
                  <a:txBody>
                    <a:bodyPr/>
                    <a:lstStyle/>
                    <a:p>
                      <a:r>
                        <a:rPr lang="en-US" sz="1400" b="1"/>
                        <a:t>Recall</a:t>
                      </a:r>
                      <a:endParaRPr lang="en-US" sz="1400"/>
                    </a:p>
                  </a:txBody>
                  <a:tcPr marL="69069" marR="69069" marT="34534" marB="34534" anchor="ctr"/>
                </a:tc>
                <a:tc>
                  <a:txBody>
                    <a:bodyPr/>
                    <a:lstStyle/>
                    <a:p>
                      <a:r>
                        <a:rPr lang="en-US" sz="1400" dirty="0"/>
                        <a:t>80.7%</a:t>
                      </a:r>
                    </a:p>
                  </a:txBody>
                  <a:tcPr marL="69069" marR="69069" marT="34534" marB="34534" anchor="ctr"/>
                </a:tc>
                <a:tc>
                  <a:txBody>
                    <a:bodyPr/>
                    <a:lstStyle/>
                    <a:p>
                      <a:r>
                        <a:rPr lang="en-US" sz="1400"/>
                        <a:t>80.7% of actual fraud cases were successfully identified</a:t>
                      </a:r>
                    </a:p>
                  </a:txBody>
                  <a:tcPr marL="69069" marR="69069" marT="34534" marB="34534" anchor="ctr"/>
                </a:tc>
                <a:extLst>
                  <a:ext uri="{0D108BD9-81ED-4DB2-BD59-A6C34878D82A}">
                    <a16:rowId xmlns:a16="http://schemas.microsoft.com/office/drawing/2014/main" val="2346009440"/>
                  </a:ext>
                </a:extLst>
              </a:tr>
              <a:tr h="830634">
                <a:tc>
                  <a:txBody>
                    <a:bodyPr/>
                    <a:lstStyle/>
                    <a:p>
                      <a:r>
                        <a:rPr lang="en-US" sz="1400" b="1"/>
                        <a:t>Weighted Precision</a:t>
                      </a:r>
                      <a:endParaRPr lang="en-US" sz="1400"/>
                    </a:p>
                  </a:txBody>
                  <a:tcPr marL="69069" marR="69069" marT="34534" marB="34534" anchor="ctr"/>
                </a:tc>
                <a:tc>
                  <a:txBody>
                    <a:bodyPr/>
                    <a:lstStyle/>
                    <a:p>
                      <a:r>
                        <a:rPr lang="en-US" sz="1400" dirty="0"/>
                        <a:t>0.99</a:t>
                      </a:r>
                    </a:p>
                  </a:txBody>
                  <a:tcPr marL="69069" marR="69069" marT="34534" marB="34534" anchor="ctr"/>
                </a:tc>
                <a:tc>
                  <a:txBody>
                    <a:bodyPr/>
                    <a:lstStyle/>
                    <a:p>
                      <a:r>
                        <a:rPr lang="en-US" sz="1400" dirty="0"/>
                        <a:t>Very high overall precision considering both fraud and non-fraud classes</a:t>
                      </a:r>
                    </a:p>
                  </a:txBody>
                  <a:tcPr marL="69069" marR="69069" marT="34534" marB="34534" anchor="ctr"/>
                </a:tc>
                <a:extLst>
                  <a:ext uri="{0D108BD9-81ED-4DB2-BD59-A6C34878D82A}">
                    <a16:rowId xmlns:a16="http://schemas.microsoft.com/office/drawing/2014/main" val="2877165216"/>
                  </a:ext>
                </a:extLst>
              </a:tr>
            </a:tbl>
          </a:graphicData>
        </a:graphic>
      </p:graphicFrame>
    </p:spTree>
    <p:extLst>
      <p:ext uri="{BB962C8B-B14F-4D97-AF65-F5344CB8AC3E}">
        <p14:creationId xmlns:p14="http://schemas.microsoft.com/office/powerpoint/2010/main" val="224315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760"/>
            <a:ext cx="10515600" cy="1325563"/>
          </a:xfrm>
        </p:spPr>
        <p:txBody>
          <a:bodyPr anchor="ctr">
            <a:normAutofit/>
          </a:bodyPr>
          <a:lstStyle/>
          <a:p>
            <a:r>
              <a:rPr lang="en-US" dirty="0"/>
              <a:t>MODEL EVALUATION METRICS and results</a:t>
            </a:r>
          </a:p>
        </p:txBody>
      </p:sp>
      <p:pic>
        <p:nvPicPr>
          <p:cNvPr id="3" name="Picture 2" descr="A blue and white graph&#10;&#10;AI-generated content may be incorrect.">
            <a:extLst>
              <a:ext uri="{FF2B5EF4-FFF2-40B4-BE49-F238E27FC236}">
                <a16:creationId xmlns:a16="http://schemas.microsoft.com/office/drawing/2014/main" id="{B8BA875A-99CE-576B-0AEC-14C766B97169}"/>
              </a:ext>
            </a:extLst>
          </p:cNvPr>
          <p:cNvPicPr>
            <a:picLocks noChangeAspect="1"/>
          </p:cNvPicPr>
          <p:nvPr/>
        </p:nvPicPr>
        <p:blipFill>
          <a:blip r:embed="rId3"/>
          <a:srcRect r="4502" b="-3"/>
          <a:stretch/>
        </p:blipFill>
        <p:spPr>
          <a:xfrm>
            <a:off x="550333" y="1578663"/>
            <a:ext cx="5134335" cy="4113054"/>
          </a:xfrm>
          <a:prstGeom prst="rect">
            <a:avLst/>
          </a:prstGeom>
          <a:noFill/>
          <a:ln>
            <a:solidFill>
              <a:schemeClr val="tx1"/>
            </a:solidFill>
          </a:ln>
        </p:spPr>
      </p:pic>
      <p:pic>
        <p:nvPicPr>
          <p:cNvPr id="4" name="Content Placeholder 3" descr="A graph of a curve&#10;&#10;AI-generated content may be incorrect.">
            <a:extLst>
              <a:ext uri="{FF2B5EF4-FFF2-40B4-BE49-F238E27FC236}">
                <a16:creationId xmlns:a16="http://schemas.microsoft.com/office/drawing/2014/main" id="{7165005D-8013-F952-115C-A9FE7DF865C6}"/>
              </a:ext>
            </a:extLst>
          </p:cNvPr>
          <p:cNvPicPr>
            <a:picLocks noGrp="1" noChangeAspect="1"/>
          </p:cNvPicPr>
          <p:nvPr>
            <p:ph sz="quarter" idx="16"/>
          </p:nvPr>
        </p:nvPicPr>
        <p:blipFill>
          <a:blip r:embed="rId4"/>
          <a:srcRect r="5438" b="-3"/>
          <a:stretch/>
        </p:blipFill>
        <p:spPr>
          <a:xfrm>
            <a:off x="6311196" y="1560747"/>
            <a:ext cx="5313531" cy="4130970"/>
          </a:xfrm>
          <a:prstGeom prst="rect">
            <a:avLst/>
          </a:prstGeom>
          <a:noFill/>
          <a:ln>
            <a:solidFill>
              <a:schemeClr val="tx1"/>
            </a:solidFill>
          </a:ln>
        </p:spPr>
      </p:pic>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72960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F744C-63E3-938B-1863-EBCA82031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E9847-27C1-D0A4-AA83-74BB07669F81}"/>
              </a:ext>
            </a:extLst>
          </p:cNvPr>
          <p:cNvSpPr>
            <a:spLocks noGrp="1"/>
          </p:cNvSpPr>
          <p:nvPr>
            <p:ph type="title"/>
          </p:nvPr>
        </p:nvSpPr>
        <p:spPr>
          <a:xfrm>
            <a:off x="838200" y="-181536"/>
            <a:ext cx="10515600" cy="1325563"/>
          </a:xfrm>
        </p:spPr>
        <p:txBody>
          <a:bodyPr anchor="ctr">
            <a:normAutofit/>
          </a:bodyPr>
          <a:lstStyle/>
          <a:p>
            <a:r>
              <a:rPr lang="en-US" dirty="0"/>
              <a:t>MODEL EVALUATION METRICS and results- CONTD</a:t>
            </a:r>
          </a:p>
        </p:txBody>
      </p:sp>
      <p:sp>
        <p:nvSpPr>
          <p:cNvPr id="5" name="Rectangle 4">
            <a:extLst>
              <a:ext uri="{FF2B5EF4-FFF2-40B4-BE49-F238E27FC236}">
                <a16:creationId xmlns:a16="http://schemas.microsoft.com/office/drawing/2014/main" id="{2DDB5A3E-2CE7-DB7E-E4EF-2881769ACF2F}"/>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4" name="Picture 3">
            <a:extLst>
              <a:ext uri="{FF2B5EF4-FFF2-40B4-BE49-F238E27FC236}">
                <a16:creationId xmlns:a16="http://schemas.microsoft.com/office/drawing/2014/main" id="{4319CB4A-5112-761C-590E-E6DC43F41893}"/>
              </a:ext>
            </a:extLst>
          </p:cNvPr>
          <p:cNvPicPr>
            <a:picLocks noChangeAspect="1"/>
          </p:cNvPicPr>
          <p:nvPr/>
        </p:nvPicPr>
        <p:blipFill>
          <a:blip r:embed="rId3"/>
          <a:stretch>
            <a:fillRect/>
          </a:stretch>
        </p:blipFill>
        <p:spPr>
          <a:xfrm>
            <a:off x="2021840" y="822631"/>
            <a:ext cx="8696960" cy="5121191"/>
          </a:xfrm>
          <a:prstGeom prst="rect">
            <a:avLst/>
          </a:prstGeom>
          <a:ln>
            <a:solidFill>
              <a:schemeClr val="bg1"/>
            </a:solidFill>
          </a:ln>
        </p:spPr>
      </p:pic>
      <p:sp>
        <p:nvSpPr>
          <p:cNvPr id="6" name="TextBox 5">
            <a:extLst>
              <a:ext uri="{FF2B5EF4-FFF2-40B4-BE49-F238E27FC236}">
                <a16:creationId xmlns:a16="http://schemas.microsoft.com/office/drawing/2014/main" id="{EAA43533-7FAB-D370-F6A4-71FE844C3B9A}"/>
              </a:ext>
            </a:extLst>
          </p:cNvPr>
          <p:cNvSpPr txBox="1"/>
          <p:nvPr/>
        </p:nvSpPr>
        <p:spPr>
          <a:xfrm>
            <a:off x="4960272" y="5883831"/>
            <a:ext cx="2271456" cy="369332"/>
          </a:xfrm>
          <a:prstGeom prst="rect">
            <a:avLst/>
          </a:prstGeom>
          <a:noFill/>
        </p:spPr>
        <p:txBody>
          <a:bodyPr wrap="none" rtlCol="0">
            <a:spAutoFit/>
          </a:bodyPr>
          <a:lstStyle/>
          <a:p>
            <a:r>
              <a:rPr lang="en-US" dirty="0"/>
              <a:t>Training Loss Vs Epoch</a:t>
            </a:r>
          </a:p>
        </p:txBody>
      </p:sp>
    </p:spTree>
    <p:extLst>
      <p:ext uri="{BB962C8B-B14F-4D97-AF65-F5344CB8AC3E}">
        <p14:creationId xmlns:p14="http://schemas.microsoft.com/office/powerpoint/2010/main" val="195137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269C3-FC8D-5415-68F5-9F291CC435E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4BD0EA8-60AF-9856-4B01-92CA992651AF}"/>
              </a:ext>
            </a:extLst>
          </p:cNvPr>
          <p:cNvSpPr>
            <a:spLocks noGrp="1"/>
          </p:cNvSpPr>
          <p:nvPr>
            <p:ph type="title"/>
          </p:nvPr>
        </p:nvSpPr>
        <p:spPr>
          <a:xfrm>
            <a:off x="838200" y="568960"/>
            <a:ext cx="6172200" cy="678688"/>
          </a:xfrm>
        </p:spPr>
        <p:txBody>
          <a:bodyPr vert="horz" lIns="91440" tIns="45720" rIns="91440" bIns="45720" rtlCol="0" anchor="b" anchorCtr="0">
            <a:normAutofit fontScale="90000"/>
          </a:bodyPr>
          <a:lstStyle/>
          <a:p>
            <a:r>
              <a:rPr lang="en-US" kern="1200" cap="all" spc="300" baseline="0" dirty="0">
                <a:latin typeface="+mj-lt"/>
                <a:ea typeface="+mj-ea"/>
                <a:cs typeface="+mj-cs"/>
              </a:rPr>
              <a:t>Architecture overview- Variational Autoencoder</a:t>
            </a:r>
          </a:p>
        </p:txBody>
      </p:sp>
      <p:sp>
        <p:nvSpPr>
          <p:cNvPr id="20" name="TextBox 19">
            <a:extLst>
              <a:ext uri="{FF2B5EF4-FFF2-40B4-BE49-F238E27FC236}">
                <a16:creationId xmlns:a16="http://schemas.microsoft.com/office/drawing/2014/main" id="{2E0832C6-323B-37BB-1F13-18ADE293874E}"/>
              </a:ext>
            </a:extLst>
          </p:cNvPr>
          <p:cNvSpPr txBox="1"/>
          <p:nvPr/>
        </p:nvSpPr>
        <p:spPr>
          <a:xfrm>
            <a:off x="838200" y="1564640"/>
            <a:ext cx="5511800" cy="4597329"/>
          </a:xfrm>
          <a:prstGeom prst="rect">
            <a:avLst/>
          </a:prstGeom>
        </p:spPr>
        <p:txBody>
          <a:bodyPr vert="horz" lIns="91440" tIns="45720" rIns="91440" bIns="45720" rtlCol="0">
            <a:normAutofit fontScale="92500" lnSpcReduction="10000"/>
          </a:bodyPr>
          <a:lstStyle/>
          <a:p>
            <a:pPr>
              <a:lnSpc>
                <a:spcPct val="90000"/>
              </a:lnSpc>
              <a:spcBef>
                <a:spcPts val="1000"/>
              </a:spcBef>
              <a:buClr>
                <a:schemeClr val="accent2"/>
              </a:buClr>
              <a:buFont typeface="Wingdings" panose="05000000000000000000" pitchFamily="2" charset="2"/>
            </a:pPr>
            <a:r>
              <a:rPr lang="en-US" sz="1800" dirty="0">
                <a:effectLst/>
                <a:latin typeface="Times New Roman" panose="02020603050405020304" pitchFamily="18" charset="0"/>
                <a:ea typeface="Aptos" panose="020B0004020202020204" pitchFamily="34" charset="0"/>
              </a:rPr>
              <a:t>Variational Autoencoders (VAEs) are effective for credit card fraud detection because they excel at anomaly detection and work well with imbalanced and unlabeled data</a:t>
            </a:r>
          </a:p>
          <a:p>
            <a:pPr marL="285750" indent="-285750">
              <a:lnSpc>
                <a:spcPct val="90000"/>
              </a:lnSpc>
              <a:spcBef>
                <a:spcPts val="1000"/>
              </a:spcBef>
              <a:buClr>
                <a:schemeClr val="accent2"/>
              </a:buClr>
              <a:buFont typeface="Arial" panose="020B0604020202020204" pitchFamily="34" charset="0"/>
              <a:buChar char="•"/>
            </a:pPr>
            <a:r>
              <a:rPr lang="en-US" sz="1600" dirty="0"/>
              <a:t>Input : dimension 30</a:t>
            </a: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Encoder:  Linear(32-&gt;64, RELU) , Linear(64-&gt;32, RELU) . Reparametrizing Layer: To allow gradient backpropagation through the stochastic sampling process.</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Decoder:   Linear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latent_dim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32,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ReLU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Linear (32 → 64,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ReLU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Linear (64 → 30) → Output layer </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To computes the loss for a Variational Autoencoder (VAE) we are combining two components: the reconstruction loss and the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Kullback-Leibler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(KL) divergence.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Optimizer used is Adam optimizer</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90000"/>
              </a:lnSpc>
              <a:spcBef>
                <a:spcPts val="1000"/>
              </a:spcBef>
              <a:buClr>
                <a:schemeClr val="accent2"/>
              </a:buClr>
              <a:buFont typeface="Arial" panose="020B06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learning rate is set to 0.001</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90000"/>
              </a:lnSpc>
              <a:spcBef>
                <a:spcPts val="1000"/>
              </a:spcBef>
              <a:buClr>
                <a:schemeClr val="accent2"/>
              </a:buClr>
              <a:buFont typeface="Arial" panose="020B0604020202020204" pitchFamily="34" charset="0"/>
              <a:buChar char="•"/>
            </a:pPr>
            <a:r>
              <a:rPr lang="en-US" sz="1800" dirty="0">
                <a:effectLst/>
                <a:latin typeface="Times New Roman" panose="02020603050405020304" pitchFamily="18" charset="0"/>
                <a:ea typeface="Aptos" panose="020B0004020202020204" pitchFamily="34" charset="0"/>
              </a:rPr>
              <a:t>The model will be trained for 10 epochs </a:t>
            </a:r>
            <a:r>
              <a:rPr lang="en-US" sz="1600" dirty="0"/>
              <a:t>. </a:t>
            </a:r>
            <a:endParaRPr lang="en-US" sz="1600" b="1" dirty="0"/>
          </a:p>
          <a:p>
            <a:pPr>
              <a:lnSpc>
                <a:spcPct val="90000"/>
              </a:lnSpc>
              <a:spcBef>
                <a:spcPts val="1000"/>
              </a:spcBef>
              <a:buClr>
                <a:schemeClr val="accent2"/>
              </a:buClr>
              <a:buFont typeface="Wingdings" panose="05000000000000000000" pitchFamily="2" charset="2"/>
            </a:pPr>
            <a:r>
              <a:rPr lang="en-US" sz="1600" b="1" dirty="0"/>
              <a:t> </a:t>
            </a:r>
            <a:endParaRPr lang="en-US" sz="1600" dirty="0"/>
          </a:p>
        </p:txBody>
      </p:sp>
      <p:pic>
        <p:nvPicPr>
          <p:cNvPr id="7" name="Picture Placeholder 6" descr="Angle view of circuit shaped like a brain">
            <a:extLst>
              <a:ext uri="{FF2B5EF4-FFF2-40B4-BE49-F238E27FC236}">
                <a16:creationId xmlns:a16="http://schemas.microsoft.com/office/drawing/2014/main" id="{888ECD83-0BB9-395C-D56C-88D6FE98AFC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6135" r="26135"/>
          <a:stretch>
            <a:fillRect/>
          </a:stretch>
        </p:blipFill>
        <p:spPr>
          <a:xfrm>
            <a:off x="7500938" y="-22225"/>
            <a:ext cx="4714875" cy="6880225"/>
          </a:xfrm>
        </p:spPr>
      </p:pic>
    </p:spTree>
    <p:extLst>
      <p:ext uri="{BB962C8B-B14F-4D97-AF65-F5344CB8AC3E}">
        <p14:creationId xmlns:p14="http://schemas.microsoft.com/office/powerpoint/2010/main" val="5409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524A5F7-72BF-3571-8094-A2D482C0C351}"/>
              </a:ext>
            </a:extLst>
          </p:cNvPr>
          <p:cNvGraphicFramePr>
            <a:graphicFrameLocks noGrp="1"/>
          </p:cNvGraphicFramePr>
          <p:nvPr>
            <p:ph sz="quarter" idx="14"/>
            <p:extLst>
              <p:ext uri="{D42A27DB-BD31-4B8C-83A1-F6EECF244321}">
                <p14:modId xmlns:p14="http://schemas.microsoft.com/office/powerpoint/2010/main" val="343717118"/>
              </p:ext>
            </p:extLst>
          </p:nvPr>
        </p:nvGraphicFramePr>
        <p:xfrm>
          <a:off x="670560" y="1320800"/>
          <a:ext cx="11165841" cy="4846325"/>
        </p:xfrm>
        <a:graphic>
          <a:graphicData uri="http://schemas.openxmlformats.org/drawingml/2006/table">
            <a:tbl>
              <a:tblPr>
                <a:tableStyleId>{D113A9D2-9D6B-4929-AA2D-F23B5EE8CBE7}</a:tableStyleId>
              </a:tblPr>
              <a:tblGrid>
                <a:gridCol w="3701627">
                  <a:extLst>
                    <a:ext uri="{9D8B030D-6E8A-4147-A177-3AD203B41FA5}">
                      <a16:colId xmlns:a16="http://schemas.microsoft.com/office/drawing/2014/main" val="2198754402"/>
                    </a:ext>
                  </a:extLst>
                </a:gridCol>
                <a:gridCol w="3732107">
                  <a:extLst>
                    <a:ext uri="{9D8B030D-6E8A-4147-A177-3AD203B41FA5}">
                      <a16:colId xmlns:a16="http://schemas.microsoft.com/office/drawing/2014/main" val="421113451"/>
                    </a:ext>
                  </a:extLst>
                </a:gridCol>
                <a:gridCol w="3732107">
                  <a:extLst>
                    <a:ext uri="{9D8B030D-6E8A-4147-A177-3AD203B41FA5}">
                      <a16:colId xmlns:a16="http://schemas.microsoft.com/office/drawing/2014/main" val="2326392103"/>
                    </a:ext>
                  </a:extLst>
                </a:gridCol>
              </a:tblGrid>
              <a:tr h="365758">
                <a:tc>
                  <a:txBody>
                    <a:bodyPr/>
                    <a:lstStyle/>
                    <a:p>
                      <a:r>
                        <a:rPr lang="en-US" sz="1400" b="1"/>
                        <a:t>Metric</a:t>
                      </a:r>
                      <a:endParaRPr lang="en-US" sz="1400"/>
                    </a:p>
                  </a:txBody>
                  <a:tcPr marL="42559" marR="42559" marT="21279" marB="21279" anchor="ctr"/>
                </a:tc>
                <a:tc>
                  <a:txBody>
                    <a:bodyPr/>
                    <a:lstStyle/>
                    <a:p>
                      <a:r>
                        <a:rPr lang="en-US" sz="1400" b="1"/>
                        <a:t>Value</a:t>
                      </a:r>
                      <a:endParaRPr lang="en-US" sz="1400"/>
                    </a:p>
                  </a:txBody>
                  <a:tcPr marL="42559" marR="42559" marT="21279" marB="21279" anchor="ctr"/>
                </a:tc>
                <a:tc>
                  <a:txBody>
                    <a:bodyPr/>
                    <a:lstStyle/>
                    <a:p>
                      <a:r>
                        <a:rPr lang="en-US" sz="1400" b="1"/>
                        <a:t>Interpretation</a:t>
                      </a:r>
                      <a:endParaRPr lang="en-US" sz="1400"/>
                    </a:p>
                  </a:txBody>
                  <a:tcPr marL="42559" marR="42559" marT="21279" marB="21279" anchor="ctr"/>
                </a:tc>
                <a:extLst>
                  <a:ext uri="{0D108BD9-81ED-4DB2-BD59-A6C34878D82A}">
                    <a16:rowId xmlns:a16="http://schemas.microsoft.com/office/drawing/2014/main" val="671729538"/>
                  </a:ext>
                </a:extLst>
              </a:tr>
              <a:tr h="640081">
                <a:tc>
                  <a:txBody>
                    <a:bodyPr/>
                    <a:lstStyle/>
                    <a:p>
                      <a:r>
                        <a:rPr lang="en-US" sz="1400" b="1" dirty="0"/>
                        <a:t>Anomaly Threshold</a:t>
                      </a:r>
                      <a:endParaRPr lang="en-US" sz="1400" dirty="0"/>
                    </a:p>
                  </a:txBody>
                  <a:tcPr marL="42559" marR="42559" marT="21279" marB="21279" anchor="ctr"/>
                </a:tc>
                <a:tc>
                  <a:txBody>
                    <a:bodyPr/>
                    <a:lstStyle/>
                    <a:p>
                      <a:r>
                        <a:rPr lang="en-US" sz="1400" dirty="0"/>
                        <a:t>3.85</a:t>
                      </a:r>
                    </a:p>
                  </a:txBody>
                  <a:tcPr marL="42559" marR="42559" marT="21279" marB="21279" anchor="ctr"/>
                </a:tc>
                <a:tc>
                  <a:txBody>
                    <a:bodyPr/>
                    <a:lstStyle/>
                    <a:p>
                      <a:r>
                        <a:rPr lang="en-US" sz="1400"/>
                        <a:t>Estimated based on 95th percentile reconstruction error</a:t>
                      </a:r>
                    </a:p>
                  </a:txBody>
                  <a:tcPr marL="42559" marR="42559" marT="21279" marB="21279" anchor="ctr"/>
                </a:tc>
                <a:extLst>
                  <a:ext uri="{0D108BD9-81ED-4DB2-BD59-A6C34878D82A}">
                    <a16:rowId xmlns:a16="http://schemas.microsoft.com/office/drawing/2014/main" val="1092765212"/>
                  </a:ext>
                </a:extLst>
              </a:tr>
              <a:tr h="640081">
                <a:tc>
                  <a:txBody>
                    <a:bodyPr/>
                    <a:lstStyle/>
                    <a:p>
                      <a:r>
                        <a:rPr lang="en-US" sz="1400" b="1"/>
                        <a:t>Accuracy</a:t>
                      </a:r>
                      <a:endParaRPr lang="en-US" sz="1400"/>
                    </a:p>
                  </a:txBody>
                  <a:tcPr marL="42559" marR="42559" marT="21279" marB="21279" anchor="ctr"/>
                </a:tc>
                <a:tc>
                  <a:txBody>
                    <a:bodyPr/>
                    <a:lstStyle/>
                    <a:p>
                      <a:r>
                        <a:rPr lang="en-US" sz="1400"/>
                        <a:t>97.84%</a:t>
                      </a:r>
                    </a:p>
                  </a:txBody>
                  <a:tcPr marL="42559" marR="42559" marT="21279" marB="21279" anchor="ctr"/>
                </a:tc>
                <a:tc>
                  <a:txBody>
                    <a:bodyPr/>
                    <a:lstStyle/>
                    <a:p>
                      <a:r>
                        <a:rPr lang="en-US" sz="1400"/>
                        <a:t>High accuracy, but may be inflated by imbalanced data</a:t>
                      </a:r>
                    </a:p>
                  </a:txBody>
                  <a:tcPr marL="42559" marR="42559" marT="21279" marB="21279" anchor="ctr"/>
                </a:tc>
                <a:extLst>
                  <a:ext uri="{0D108BD9-81ED-4DB2-BD59-A6C34878D82A}">
                    <a16:rowId xmlns:a16="http://schemas.microsoft.com/office/drawing/2014/main" val="2771040508"/>
                  </a:ext>
                </a:extLst>
              </a:tr>
              <a:tr h="640081">
                <a:tc>
                  <a:txBody>
                    <a:bodyPr/>
                    <a:lstStyle/>
                    <a:p>
                      <a:r>
                        <a:rPr lang="en-US" sz="1400" b="1"/>
                        <a:t>AUC (ROC Curve)</a:t>
                      </a:r>
                      <a:endParaRPr lang="en-US" sz="1400"/>
                    </a:p>
                  </a:txBody>
                  <a:tcPr marL="42559" marR="42559" marT="21279" marB="21279" anchor="ctr"/>
                </a:tc>
                <a:tc>
                  <a:txBody>
                    <a:bodyPr/>
                    <a:lstStyle/>
                    <a:p>
                      <a:r>
                        <a:rPr lang="en-US" sz="1400" dirty="0"/>
                        <a:t>0.95</a:t>
                      </a:r>
                    </a:p>
                  </a:txBody>
                  <a:tcPr marL="42559" marR="42559" marT="21279" marB="21279" anchor="ctr"/>
                </a:tc>
                <a:tc>
                  <a:txBody>
                    <a:bodyPr/>
                    <a:lstStyle/>
                    <a:p>
                      <a:r>
                        <a:rPr lang="en-US" sz="1400"/>
                        <a:t>Excellent discrimination between fraud and non-fraud</a:t>
                      </a:r>
                    </a:p>
                  </a:txBody>
                  <a:tcPr marL="42559" marR="42559" marT="21279" marB="21279" anchor="ctr"/>
                </a:tc>
                <a:extLst>
                  <a:ext uri="{0D108BD9-81ED-4DB2-BD59-A6C34878D82A}">
                    <a16:rowId xmlns:a16="http://schemas.microsoft.com/office/drawing/2014/main" val="1734048850"/>
                  </a:ext>
                </a:extLst>
              </a:tr>
              <a:tr h="640081">
                <a:tc>
                  <a:txBody>
                    <a:bodyPr/>
                    <a:lstStyle/>
                    <a:p>
                      <a:r>
                        <a:rPr lang="en-US" sz="1400" b="1"/>
                        <a:t>Precision</a:t>
                      </a:r>
                      <a:endParaRPr lang="en-US" sz="1400"/>
                    </a:p>
                  </a:txBody>
                  <a:tcPr marL="42559" marR="42559" marT="21279" marB="21279" anchor="ctr"/>
                </a:tc>
                <a:tc>
                  <a:txBody>
                    <a:bodyPr/>
                    <a:lstStyle/>
                    <a:p>
                      <a:r>
                        <a:rPr lang="en-US" sz="1400" dirty="0"/>
                        <a:t>0.25</a:t>
                      </a:r>
                    </a:p>
                  </a:txBody>
                  <a:tcPr marL="42559" marR="42559" marT="21279" marB="21279" anchor="ctr"/>
                </a:tc>
                <a:tc>
                  <a:txBody>
                    <a:bodyPr/>
                    <a:lstStyle/>
                    <a:p>
                      <a:r>
                        <a:rPr lang="en-US" sz="1400" dirty="0"/>
                        <a:t>Only 25% of predicted frauds were actually fraud</a:t>
                      </a:r>
                    </a:p>
                  </a:txBody>
                  <a:tcPr marL="42559" marR="42559" marT="21279" marB="21279" anchor="ctr"/>
                </a:tc>
                <a:extLst>
                  <a:ext uri="{0D108BD9-81ED-4DB2-BD59-A6C34878D82A}">
                    <a16:rowId xmlns:a16="http://schemas.microsoft.com/office/drawing/2014/main" val="4173119256"/>
                  </a:ext>
                </a:extLst>
              </a:tr>
              <a:tr h="640081">
                <a:tc>
                  <a:txBody>
                    <a:bodyPr/>
                    <a:lstStyle/>
                    <a:p>
                      <a:r>
                        <a:rPr lang="en-US" sz="1400" b="1"/>
                        <a:t>Recall</a:t>
                      </a:r>
                      <a:endParaRPr lang="en-US" sz="1400"/>
                    </a:p>
                  </a:txBody>
                  <a:tcPr marL="42559" marR="42559" marT="21279" marB="21279" anchor="ctr"/>
                </a:tc>
                <a:tc>
                  <a:txBody>
                    <a:bodyPr/>
                    <a:lstStyle/>
                    <a:p>
                      <a:r>
                        <a:rPr lang="en-US" sz="1400"/>
                        <a:t>79.8%</a:t>
                      </a:r>
                    </a:p>
                  </a:txBody>
                  <a:tcPr marL="42559" marR="42559" marT="21279" marB="21279" anchor="ctr"/>
                </a:tc>
                <a:tc>
                  <a:txBody>
                    <a:bodyPr/>
                    <a:lstStyle/>
                    <a:p>
                      <a:r>
                        <a:rPr lang="en-US" sz="1400"/>
                        <a:t>High sensitivity — model detects most fraud cases</a:t>
                      </a:r>
                    </a:p>
                  </a:txBody>
                  <a:tcPr marL="42559" marR="42559" marT="21279" marB="21279" anchor="ctr"/>
                </a:tc>
                <a:extLst>
                  <a:ext uri="{0D108BD9-81ED-4DB2-BD59-A6C34878D82A}">
                    <a16:rowId xmlns:a16="http://schemas.microsoft.com/office/drawing/2014/main" val="350432038"/>
                  </a:ext>
                </a:extLst>
              </a:tr>
              <a:tr h="640081">
                <a:tc>
                  <a:txBody>
                    <a:bodyPr/>
                    <a:lstStyle/>
                    <a:p>
                      <a:r>
                        <a:rPr lang="en-US" sz="1400" b="1"/>
                        <a:t>F1 Score</a:t>
                      </a:r>
                      <a:endParaRPr lang="en-US" sz="1400"/>
                    </a:p>
                  </a:txBody>
                  <a:tcPr marL="42559" marR="42559" marT="21279" marB="21279" anchor="ctr"/>
                </a:tc>
                <a:tc>
                  <a:txBody>
                    <a:bodyPr/>
                    <a:lstStyle/>
                    <a:p>
                      <a:r>
                        <a:rPr lang="en-US" sz="1400"/>
                        <a:t>0.385</a:t>
                      </a:r>
                    </a:p>
                  </a:txBody>
                  <a:tcPr marL="42559" marR="42559" marT="21279" marB="21279" anchor="ctr"/>
                </a:tc>
                <a:tc>
                  <a:txBody>
                    <a:bodyPr/>
                    <a:lstStyle/>
                    <a:p>
                      <a:r>
                        <a:rPr lang="en-US" sz="1400"/>
                        <a:t>Moderate trade-off between precision and recall</a:t>
                      </a:r>
                    </a:p>
                  </a:txBody>
                  <a:tcPr marL="42559" marR="42559" marT="21279" marB="21279" anchor="ctr"/>
                </a:tc>
                <a:extLst>
                  <a:ext uri="{0D108BD9-81ED-4DB2-BD59-A6C34878D82A}">
                    <a16:rowId xmlns:a16="http://schemas.microsoft.com/office/drawing/2014/main" val="1621302677"/>
                  </a:ext>
                </a:extLst>
              </a:tr>
              <a:tr h="640081">
                <a:tc>
                  <a:txBody>
                    <a:bodyPr/>
                    <a:lstStyle/>
                    <a:p>
                      <a:r>
                        <a:rPr lang="en-US" sz="1400" b="1"/>
                        <a:t>Weighted Precision</a:t>
                      </a:r>
                      <a:endParaRPr lang="en-US" sz="1400"/>
                    </a:p>
                  </a:txBody>
                  <a:tcPr marL="42559" marR="42559" marT="21279" marB="21279" anchor="ctr"/>
                </a:tc>
                <a:tc>
                  <a:txBody>
                    <a:bodyPr/>
                    <a:lstStyle/>
                    <a:p>
                      <a:r>
                        <a:rPr lang="en-US" sz="1400" dirty="0"/>
                        <a:t>0.98</a:t>
                      </a:r>
                    </a:p>
                  </a:txBody>
                  <a:tcPr marL="42559" marR="42559" marT="21279" marB="21279" anchor="ctr"/>
                </a:tc>
                <a:tc>
                  <a:txBody>
                    <a:bodyPr/>
                    <a:lstStyle/>
                    <a:p>
                      <a:r>
                        <a:rPr lang="en-US" sz="1400" dirty="0"/>
                        <a:t>High overall precision when considering both classes</a:t>
                      </a:r>
                    </a:p>
                  </a:txBody>
                  <a:tcPr marL="42559" marR="42559" marT="21279" marB="21279" anchor="ctr"/>
                </a:tc>
                <a:extLst>
                  <a:ext uri="{0D108BD9-81ED-4DB2-BD59-A6C34878D82A}">
                    <a16:rowId xmlns:a16="http://schemas.microsoft.com/office/drawing/2014/main" val="2362587191"/>
                  </a:ext>
                </a:extLst>
              </a:tr>
            </a:tbl>
          </a:graphicData>
        </a:graphic>
      </p:graphicFrame>
      <p:sp>
        <p:nvSpPr>
          <p:cNvPr id="8" name="Title 1">
            <a:extLst>
              <a:ext uri="{FF2B5EF4-FFF2-40B4-BE49-F238E27FC236}">
                <a16:creationId xmlns:a16="http://schemas.microsoft.com/office/drawing/2014/main" id="{860872AD-2CB9-9DBF-ECFA-C7D3C6718157}"/>
              </a:ext>
            </a:extLst>
          </p:cNvPr>
          <p:cNvSpPr>
            <a:spLocks noGrp="1"/>
          </p:cNvSpPr>
          <p:nvPr>
            <p:ph type="title"/>
          </p:nvPr>
        </p:nvSpPr>
        <p:spPr>
          <a:xfrm>
            <a:off x="1608218" y="28093"/>
            <a:ext cx="8975564" cy="1325563"/>
          </a:xfrm>
        </p:spPr>
        <p:txBody>
          <a:bodyPr anchor="ctr">
            <a:normAutofit/>
          </a:bodyPr>
          <a:lstStyle/>
          <a:p>
            <a:r>
              <a:rPr lang="en-US" dirty="0"/>
              <a:t>Model Performance &amp; Results</a:t>
            </a:r>
          </a:p>
        </p:txBody>
      </p:sp>
    </p:spTree>
    <p:extLst>
      <p:ext uri="{BB962C8B-B14F-4D97-AF65-F5344CB8AC3E}">
        <p14:creationId xmlns:p14="http://schemas.microsoft.com/office/powerpoint/2010/main" val="239920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numbers and a blue square&#10;&#10;AI-generated content may be incorrect.">
            <a:extLst>
              <a:ext uri="{FF2B5EF4-FFF2-40B4-BE49-F238E27FC236}">
                <a16:creationId xmlns:a16="http://schemas.microsoft.com/office/drawing/2014/main" id="{92C4DC48-6830-EF29-7369-EB21FBAA4658}"/>
              </a:ext>
            </a:extLst>
          </p:cNvPr>
          <p:cNvPicPr>
            <a:picLocks noGrp="1" noChangeAspect="1"/>
          </p:cNvPicPr>
          <p:nvPr>
            <p:ph sz="quarter" idx="14"/>
          </p:nvPr>
        </p:nvPicPr>
        <p:blipFill>
          <a:blip r:embed="rId2"/>
          <a:stretch>
            <a:fillRect/>
          </a:stretch>
        </p:blipFill>
        <p:spPr>
          <a:xfrm>
            <a:off x="2583130" y="123024"/>
            <a:ext cx="7505749" cy="6161571"/>
          </a:xfrm>
          <a:prstGeom prst="rect">
            <a:avLst/>
          </a:prstGeom>
        </p:spPr>
      </p:pic>
    </p:spTree>
    <p:extLst>
      <p:ext uri="{BB962C8B-B14F-4D97-AF65-F5344CB8AC3E}">
        <p14:creationId xmlns:p14="http://schemas.microsoft.com/office/powerpoint/2010/main" val="323181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E46F8-C345-DF9C-293E-4326C6CC30C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A461431-D3C6-554A-0A9D-54F6E9CE7B85}"/>
              </a:ext>
            </a:extLst>
          </p:cNvPr>
          <p:cNvSpPr>
            <a:spLocks noGrp="1"/>
          </p:cNvSpPr>
          <p:nvPr>
            <p:ph type="title"/>
          </p:nvPr>
        </p:nvSpPr>
        <p:spPr>
          <a:xfrm>
            <a:off x="838200" y="568960"/>
            <a:ext cx="6172200" cy="678688"/>
          </a:xfrm>
        </p:spPr>
        <p:txBody>
          <a:bodyPr vert="horz" lIns="91440" tIns="45720" rIns="91440" bIns="45720" rtlCol="0" anchor="b" anchorCtr="0">
            <a:normAutofit/>
          </a:bodyPr>
          <a:lstStyle/>
          <a:p>
            <a:r>
              <a:rPr lang="en-US" dirty="0" err="1"/>
              <a:t>HyperParameter</a:t>
            </a:r>
            <a:r>
              <a:rPr lang="en-US" dirty="0"/>
              <a:t> Tuning</a:t>
            </a:r>
            <a:endParaRPr lang="en-US" kern="1200" cap="all" spc="300" baseline="0" dirty="0">
              <a:latin typeface="+mj-lt"/>
              <a:ea typeface="+mj-ea"/>
              <a:cs typeface="+mj-cs"/>
            </a:endParaRPr>
          </a:p>
        </p:txBody>
      </p:sp>
      <p:sp>
        <p:nvSpPr>
          <p:cNvPr id="20" name="TextBox 19">
            <a:extLst>
              <a:ext uri="{FF2B5EF4-FFF2-40B4-BE49-F238E27FC236}">
                <a16:creationId xmlns:a16="http://schemas.microsoft.com/office/drawing/2014/main" id="{F7E7F3E5-4A73-67F1-BE6E-C47F894D6DD8}"/>
              </a:ext>
            </a:extLst>
          </p:cNvPr>
          <p:cNvSpPr txBox="1"/>
          <p:nvPr/>
        </p:nvSpPr>
        <p:spPr>
          <a:xfrm>
            <a:off x="838200" y="1564640"/>
            <a:ext cx="5511800" cy="4597329"/>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1600" dirty="0"/>
          </a:p>
        </p:txBody>
      </p:sp>
      <p:pic>
        <p:nvPicPr>
          <p:cNvPr id="7" name="Picture Placeholder 6" descr="Programming data on computer monitor">
            <a:extLst>
              <a:ext uri="{FF2B5EF4-FFF2-40B4-BE49-F238E27FC236}">
                <a16:creationId xmlns:a16="http://schemas.microsoft.com/office/drawing/2014/main" id="{D5C7F7C1-318B-0524-EA60-3B6C022D6EAE}"/>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7163" r="27163"/>
          <a:stretch/>
        </p:blipFill>
        <p:spPr>
          <a:xfrm>
            <a:off x="7500938" y="-22225"/>
            <a:ext cx="4714875" cy="6880225"/>
          </a:xfrm>
        </p:spPr>
      </p:pic>
      <p:sp>
        <p:nvSpPr>
          <p:cNvPr id="3" name="TextBox 2">
            <a:extLst>
              <a:ext uri="{FF2B5EF4-FFF2-40B4-BE49-F238E27FC236}">
                <a16:creationId xmlns:a16="http://schemas.microsoft.com/office/drawing/2014/main" id="{C2CD3827-2D42-0E0A-F44A-DAEE552866AA}"/>
              </a:ext>
            </a:extLst>
          </p:cNvPr>
          <p:cNvSpPr txBox="1"/>
          <p:nvPr/>
        </p:nvSpPr>
        <p:spPr>
          <a:xfrm>
            <a:off x="421217" y="1353804"/>
            <a:ext cx="6108700" cy="2646878"/>
          </a:xfrm>
          <a:prstGeom prst="rect">
            <a:avLst/>
          </a:prstGeom>
          <a:noFill/>
        </p:spPr>
        <p:txBody>
          <a:bodyPr wrap="square">
            <a:spAutoFit/>
          </a:bodyPr>
          <a:lstStyle/>
          <a:p>
            <a:r>
              <a:rPr lang="en-US" dirty="0"/>
              <a:t>We used the grid search approach, iterating over multiple combinations of hidden size, learning rate and number of epochs. </a:t>
            </a:r>
          </a:p>
          <a:p>
            <a:r>
              <a:rPr lang="en-US" sz="1600" dirty="0"/>
              <a:t>Hyperparameters used: </a:t>
            </a:r>
          </a:p>
          <a:p>
            <a:r>
              <a:rPr lang="en-US" sz="1600" dirty="0" err="1"/>
              <a:t>learning_rate</a:t>
            </a:r>
            <a:r>
              <a:rPr lang="en-US" sz="1600" dirty="0"/>
              <a:t>: [0.001, 0.0005, 0.0001] </a:t>
            </a:r>
          </a:p>
          <a:p>
            <a:r>
              <a:rPr lang="en-US" sz="1600" dirty="0"/>
              <a:t>Batch size: [64,128] </a:t>
            </a:r>
          </a:p>
          <a:p>
            <a:endParaRPr lang="en-US" sz="1600" dirty="0"/>
          </a:p>
          <a:p>
            <a:r>
              <a:rPr lang="en-US" sz="1600" b="1" dirty="0"/>
              <a:t>Result </a:t>
            </a:r>
            <a:r>
              <a:rPr lang="en-US" sz="1600" dirty="0"/>
              <a:t>: Tuning led to </a:t>
            </a:r>
            <a:r>
              <a:rPr lang="en-US" sz="1600" b="1" dirty="0"/>
              <a:t>marginal but meaningful gains</a:t>
            </a:r>
            <a:r>
              <a:rPr lang="en-US" sz="1600" dirty="0"/>
              <a:t> in detection performance</a:t>
            </a:r>
          </a:p>
          <a:p>
            <a:r>
              <a:rPr lang="en-US" sz="1600" dirty="0"/>
              <a:t>Helps validate </a:t>
            </a:r>
            <a:r>
              <a:rPr lang="en-US" sz="1600" b="1" dirty="0"/>
              <a:t>stability, robustness</a:t>
            </a:r>
            <a:r>
              <a:rPr lang="en-US" sz="1600" dirty="0"/>
              <a:t>, and </a:t>
            </a:r>
            <a:r>
              <a:rPr lang="en-US" sz="1600" b="1" dirty="0"/>
              <a:t>threshold sensitivity</a:t>
            </a:r>
            <a:endParaRPr lang="en-US" sz="1600" dirty="0"/>
          </a:p>
        </p:txBody>
      </p:sp>
    </p:spTree>
    <p:extLst>
      <p:ext uri="{BB962C8B-B14F-4D97-AF65-F5344CB8AC3E}">
        <p14:creationId xmlns:p14="http://schemas.microsoft.com/office/powerpoint/2010/main" val="326305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057AA96-4BF2-282F-1055-100B87E5F992}"/>
              </a:ext>
            </a:extLst>
          </p:cNvPr>
          <p:cNvGraphicFramePr>
            <a:graphicFrameLocks noGrp="1"/>
          </p:cNvGraphicFramePr>
          <p:nvPr>
            <p:extLst>
              <p:ext uri="{D42A27DB-BD31-4B8C-83A1-F6EECF244321}">
                <p14:modId xmlns:p14="http://schemas.microsoft.com/office/powerpoint/2010/main" val="3108301459"/>
              </p:ext>
            </p:extLst>
          </p:nvPr>
        </p:nvGraphicFramePr>
        <p:xfrm>
          <a:off x="680720" y="1838960"/>
          <a:ext cx="10673080" cy="4003040"/>
        </p:xfrm>
        <a:graphic>
          <a:graphicData uri="http://schemas.openxmlformats.org/drawingml/2006/table">
            <a:tbl>
              <a:tblPr>
                <a:tableStyleId>{125E5076-3810-47DD-B79F-674D7AD40C01}</a:tableStyleId>
              </a:tblPr>
              <a:tblGrid>
                <a:gridCol w="2668270">
                  <a:extLst>
                    <a:ext uri="{9D8B030D-6E8A-4147-A177-3AD203B41FA5}">
                      <a16:colId xmlns:a16="http://schemas.microsoft.com/office/drawing/2014/main" val="571444394"/>
                    </a:ext>
                  </a:extLst>
                </a:gridCol>
                <a:gridCol w="2668270">
                  <a:extLst>
                    <a:ext uri="{9D8B030D-6E8A-4147-A177-3AD203B41FA5}">
                      <a16:colId xmlns:a16="http://schemas.microsoft.com/office/drawing/2014/main" val="2324308757"/>
                    </a:ext>
                  </a:extLst>
                </a:gridCol>
                <a:gridCol w="2668270">
                  <a:extLst>
                    <a:ext uri="{9D8B030D-6E8A-4147-A177-3AD203B41FA5}">
                      <a16:colId xmlns:a16="http://schemas.microsoft.com/office/drawing/2014/main" val="1114685813"/>
                    </a:ext>
                  </a:extLst>
                </a:gridCol>
                <a:gridCol w="2668270">
                  <a:extLst>
                    <a:ext uri="{9D8B030D-6E8A-4147-A177-3AD203B41FA5}">
                      <a16:colId xmlns:a16="http://schemas.microsoft.com/office/drawing/2014/main" val="3456091060"/>
                    </a:ext>
                  </a:extLst>
                </a:gridCol>
              </a:tblGrid>
              <a:tr h="500380">
                <a:tc>
                  <a:txBody>
                    <a:bodyPr/>
                    <a:lstStyle/>
                    <a:p>
                      <a:r>
                        <a:rPr lang="en-US" b="1" dirty="0"/>
                        <a:t>Metric</a:t>
                      </a:r>
                      <a:endParaRPr lang="en-US" dirty="0"/>
                    </a:p>
                  </a:txBody>
                  <a:tcPr anchor="ctr"/>
                </a:tc>
                <a:tc>
                  <a:txBody>
                    <a:bodyPr/>
                    <a:lstStyle/>
                    <a:p>
                      <a:r>
                        <a:rPr lang="en-US" b="1"/>
                        <a:t>Base VAE</a:t>
                      </a:r>
                      <a:endParaRPr lang="en-US"/>
                    </a:p>
                  </a:txBody>
                  <a:tcPr anchor="ctr"/>
                </a:tc>
                <a:tc>
                  <a:txBody>
                    <a:bodyPr/>
                    <a:lstStyle/>
                    <a:p>
                      <a:r>
                        <a:rPr lang="en-US" b="1" dirty="0"/>
                        <a:t>Tuned VAE</a:t>
                      </a:r>
                      <a:endParaRPr lang="en-US" dirty="0"/>
                    </a:p>
                  </a:txBody>
                  <a:tcPr anchor="ctr"/>
                </a:tc>
                <a:tc>
                  <a:txBody>
                    <a:bodyPr/>
                    <a:lstStyle/>
                    <a:p>
                      <a:r>
                        <a:rPr lang="en-US" b="1"/>
                        <a:t>Change</a:t>
                      </a:r>
                      <a:endParaRPr lang="en-US"/>
                    </a:p>
                  </a:txBody>
                  <a:tcPr anchor="ctr"/>
                </a:tc>
                <a:extLst>
                  <a:ext uri="{0D108BD9-81ED-4DB2-BD59-A6C34878D82A}">
                    <a16:rowId xmlns:a16="http://schemas.microsoft.com/office/drawing/2014/main" val="3581684144"/>
                  </a:ext>
                </a:extLst>
              </a:tr>
              <a:tr h="500380">
                <a:tc>
                  <a:txBody>
                    <a:bodyPr/>
                    <a:lstStyle/>
                    <a:p>
                      <a:r>
                        <a:rPr lang="en-US" b="1"/>
                        <a:t>Accuracy</a:t>
                      </a:r>
                      <a:endParaRPr lang="en-US"/>
                    </a:p>
                  </a:txBody>
                  <a:tcPr anchor="ctr"/>
                </a:tc>
                <a:tc>
                  <a:txBody>
                    <a:bodyPr/>
                    <a:lstStyle/>
                    <a:p>
                      <a:r>
                        <a:rPr lang="en-US" dirty="0"/>
                        <a:t>97.84%</a:t>
                      </a:r>
                    </a:p>
                  </a:txBody>
                  <a:tcPr anchor="ctr"/>
                </a:tc>
                <a:tc>
                  <a:txBody>
                    <a:bodyPr/>
                    <a:lstStyle/>
                    <a:p>
                      <a:r>
                        <a:rPr lang="en-US" dirty="0"/>
                        <a:t>97.83%</a:t>
                      </a:r>
                    </a:p>
                  </a:txBody>
                  <a:tcPr anchor="ctr"/>
                </a:tc>
                <a:tc>
                  <a:txBody>
                    <a:bodyPr/>
                    <a:lstStyle/>
                    <a:p>
                      <a:r>
                        <a:rPr lang="en-US"/>
                        <a:t>Slightly decreased</a:t>
                      </a:r>
                    </a:p>
                  </a:txBody>
                  <a:tcPr anchor="ctr"/>
                </a:tc>
                <a:extLst>
                  <a:ext uri="{0D108BD9-81ED-4DB2-BD59-A6C34878D82A}">
                    <a16:rowId xmlns:a16="http://schemas.microsoft.com/office/drawing/2014/main" val="3386110372"/>
                  </a:ext>
                </a:extLst>
              </a:tr>
              <a:tr h="500380">
                <a:tc>
                  <a:txBody>
                    <a:bodyPr/>
                    <a:lstStyle/>
                    <a:p>
                      <a:r>
                        <a:rPr lang="en-US" b="1"/>
                        <a:t>Precision</a:t>
                      </a:r>
                      <a:endParaRPr lang="en-US"/>
                    </a:p>
                  </a:txBody>
                  <a:tcPr anchor="ctr"/>
                </a:tc>
                <a:tc>
                  <a:txBody>
                    <a:bodyPr/>
                    <a:lstStyle/>
                    <a:p>
                      <a:r>
                        <a:rPr lang="en-US" dirty="0"/>
                        <a:t>25%</a:t>
                      </a:r>
                    </a:p>
                  </a:txBody>
                  <a:tcPr anchor="ctr"/>
                </a:tc>
                <a:tc>
                  <a:txBody>
                    <a:bodyPr/>
                    <a:lstStyle/>
                    <a:p>
                      <a:r>
                        <a:rPr lang="en-US" dirty="0"/>
                        <a:t>25.45%</a:t>
                      </a:r>
                    </a:p>
                  </a:txBody>
                  <a:tcPr anchor="ctr"/>
                </a:tc>
                <a:tc>
                  <a:txBody>
                    <a:bodyPr/>
                    <a:lstStyle/>
                    <a:p>
                      <a:r>
                        <a:rPr lang="en-US" dirty="0"/>
                        <a:t>Slight increase</a:t>
                      </a:r>
                    </a:p>
                  </a:txBody>
                  <a:tcPr anchor="ctr"/>
                </a:tc>
                <a:extLst>
                  <a:ext uri="{0D108BD9-81ED-4DB2-BD59-A6C34878D82A}">
                    <a16:rowId xmlns:a16="http://schemas.microsoft.com/office/drawing/2014/main" val="1755673258"/>
                  </a:ext>
                </a:extLst>
              </a:tr>
              <a:tr h="500380">
                <a:tc>
                  <a:txBody>
                    <a:bodyPr/>
                    <a:lstStyle/>
                    <a:p>
                      <a:r>
                        <a:rPr lang="en-US" b="1"/>
                        <a:t>Recall</a:t>
                      </a:r>
                      <a:endParaRPr lang="en-US"/>
                    </a:p>
                  </a:txBody>
                  <a:tcPr anchor="ctr"/>
                </a:tc>
                <a:tc>
                  <a:txBody>
                    <a:bodyPr/>
                    <a:lstStyle/>
                    <a:p>
                      <a:r>
                        <a:rPr lang="en-US" dirty="0"/>
                        <a:t>79.8%</a:t>
                      </a:r>
                    </a:p>
                  </a:txBody>
                  <a:tcPr anchor="ctr"/>
                </a:tc>
                <a:tc>
                  <a:txBody>
                    <a:bodyPr/>
                    <a:lstStyle/>
                    <a:p>
                      <a:r>
                        <a:rPr lang="en-US" dirty="0"/>
                        <a:t>79.86%</a:t>
                      </a:r>
                    </a:p>
                  </a:txBody>
                  <a:tcPr anchor="ctr"/>
                </a:tc>
                <a:tc>
                  <a:txBody>
                    <a:bodyPr/>
                    <a:lstStyle/>
                    <a:p>
                      <a:r>
                        <a:rPr lang="en-US" dirty="0"/>
                        <a:t>Marginal increase</a:t>
                      </a:r>
                    </a:p>
                  </a:txBody>
                  <a:tcPr anchor="ctr"/>
                </a:tc>
                <a:extLst>
                  <a:ext uri="{0D108BD9-81ED-4DB2-BD59-A6C34878D82A}">
                    <a16:rowId xmlns:a16="http://schemas.microsoft.com/office/drawing/2014/main" val="1444154194"/>
                  </a:ext>
                </a:extLst>
              </a:tr>
              <a:tr h="500380">
                <a:tc>
                  <a:txBody>
                    <a:bodyPr/>
                    <a:lstStyle/>
                    <a:p>
                      <a:r>
                        <a:rPr lang="en-US" b="1"/>
                        <a:t>F1 Score</a:t>
                      </a:r>
                      <a:endParaRPr lang="en-US"/>
                    </a:p>
                  </a:txBody>
                  <a:tcPr anchor="ctr"/>
                </a:tc>
                <a:tc>
                  <a:txBody>
                    <a:bodyPr/>
                    <a:lstStyle/>
                    <a:p>
                      <a:r>
                        <a:rPr lang="en-US" dirty="0"/>
                        <a:t>0.385</a:t>
                      </a:r>
                    </a:p>
                  </a:txBody>
                  <a:tcPr anchor="ctr"/>
                </a:tc>
                <a:tc>
                  <a:txBody>
                    <a:bodyPr/>
                    <a:lstStyle/>
                    <a:p>
                      <a:r>
                        <a:rPr lang="en-US" dirty="0"/>
                        <a:t>0.385</a:t>
                      </a:r>
                    </a:p>
                  </a:txBody>
                  <a:tcPr anchor="ctr"/>
                </a:tc>
                <a:tc>
                  <a:txBody>
                    <a:bodyPr/>
                    <a:lstStyle/>
                    <a:p>
                      <a:r>
                        <a:rPr lang="en-US"/>
                        <a:t>Slightly decreased</a:t>
                      </a:r>
                    </a:p>
                  </a:txBody>
                  <a:tcPr anchor="ctr"/>
                </a:tc>
                <a:extLst>
                  <a:ext uri="{0D108BD9-81ED-4DB2-BD59-A6C34878D82A}">
                    <a16:rowId xmlns:a16="http://schemas.microsoft.com/office/drawing/2014/main" val="1130115984"/>
                  </a:ext>
                </a:extLst>
              </a:tr>
              <a:tr h="500380">
                <a:tc>
                  <a:txBody>
                    <a:bodyPr/>
                    <a:lstStyle/>
                    <a:p>
                      <a:r>
                        <a:rPr lang="en-US" b="1"/>
                        <a:t>Weighted Precision</a:t>
                      </a:r>
                      <a:endParaRPr lang="en-US"/>
                    </a:p>
                  </a:txBody>
                  <a:tcPr anchor="ctr"/>
                </a:tc>
                <a:tc>
                  <a:txBody>
                    <a:bodyPr/>
                    <a:lstStyle/>
                    <a:p>
                      <a:r>
                        <a:rPr lang="en-US" dirty="0"/>
                        <a:t>0.98</a:t>
                      </a:r>
                    </a:p>
                  </a:txBody>
                  <a:tcPr anchor="ctr"/>
                </a:tc>
                <a:tc>
                  <a:txBody>
                    <a:bodyPr/>
                    <a:lstStyle/>
                    <a:p>
                      <a:r>
                        <a:rPr lang="en-US" dirty="0"/>
                        <a:t>0.98</a:t>
                      </a:r>
                    </a:p>
                  </a:txBody>
                  <a:tcPr anchor="ctr"/>
                </a:tc>
                <a:tc>
                  <a:txBody>
                    <a:bodyPr/>
                    <a:lstStyle/>
                    <a:p>
                      <a:r>
                        <a:rPr lang="en-US"/>
                        <a:t>Still high</a:t>
                      </a:r>
                    </a:p>
                  </a:txBody>
                  <a:tcPr anchor="ctr"/>
                </a:tc>
                <a:extLst>
                  <a:ext uri="{0D108BD9-81ED-4DB2-BD59-A6C34878D82A}">
                    <a16:rowId xmlns:a16="http://schemas.microsoft.com/office/drawing/2014/main" val="4073899274"/>
                  </a:ext>
                </a:extLst>
              </a:tr>
              <a:tr h="500380">
                <a:tc>
                  <a:txBody>
                    <a:bodyPr/>
                    <a:lstStyle/>
                    <a:p>
                      <a:r>
                        <a:rPr lang="en-US" b="1"/>
                        <a:t>AUC (estimated)</a:t>
                      </a:r>
                      <a:endParaRPr lang="en-US"/>
                    </a:p>
                  </a:txBody>
                  <a:tcPr anchor="ctr"/>
                </a:tc>
                <a:tc>
                  <a:txBody>
                    <a:bodyPr/>
                    <a:lstStyle/>
                    <a:p>
                      <a:r>
                        <a:rPr lang="en-US" dirty="0"/>
                        <a:t>0.94</a:t>
                      </a:r>
                    </a:p>
                  </a:txBody>
                  <a:tcPr anchor="ctr"/>
                </a:tc>
                <a:tc>
                  <a:txBody>
                    <a:bodyPr/>
                    <a:lstStyle/>
                    <a:p>
                      <a:r>
                        <a:rPr lang="en-US" dirty="0"/>
                        <a:t>0.96</a:t>
                      </a:r>
                    </a:p>
                  </a:txBody>
                  <a:tcPr anchor="ctr"/>
                </a:tc>
                <a:tc>
                  <a:txBody>
                    <a:bodyPr/>
                    <a:lstStyle/>
                    <a:p>
                      <a:r>
                        <a:rPr lang="en-US" dirty="0"/>
                        <a:t>Very close</a:t>
                      </a:r>
                    </a:p>
                  </a:txBody>
                  <a:tcPr anchor="ctr"/>
                </a:tc>
                <a:extLst>
                  <a:ext uri="{0D108BD9-81ED-4DB2-BD59-A6C34878D82A}">
                    <a16:rowId xmlns:a16="http://schemas.microsoft.com/office/drawing/2014/main" val="1119632162"/>
                  </a:ext>
                </a:extLst>
              </a:tr>
              <a:tr h="500380">
                <a:tc>
                  <a:txBody>
                    <a:bodyPr/>
                    <a:lstStyle/>
                    <a:p>
                      <a:r>
                        <a:rPr lang="en-US" b="1"/>
                        <a:t>Anomaly Threshold</a:t>
                      </a:r>
                      <a:endParaRPr lang="en-US"/>
                    </a:p>
                  </a:txBody>
                  <a:tcPr anchor="ctr"/>
                </a:tc>
                <a:tc>
                  <a:txBody>
                    <a:bodyPr/>
                    <a:lstStyle/>
                    <a:p>
                      <a:r>
                        <a:rPr lang="en-US" dirty="0"/>
                        <a:t>3.85</a:t>
                      </a:r>
                    </a:p>
                  </a:txBody>
                  <a:tcPr anchor="ctr"/>
                </a:tc>
                <a:tc>
                  <a:txBody>
                    <a:bodyPr/>
                    <a:lstStyle/>
                    <a:p>
                      <a:r>
                        <a:rPr lang="en-US" dirty="0"/>
                        <a:t>3.85</a:t>
                      </a:r>
                    </a:p>
                  </a:txBody>
                  <a:tcPr anchor="ctr"/>
                </a:tc>
                <a:tc>
                  <a:txBody>
                    <a:bodyPr/>
                    <a:lstStyle/>
                    <a:p>
                      <a:r>
                        <a:rPr lang="en-US" dirty="0"/>
                        <a:t>Still same</a:t>
                      </a:r>
                    </a:p>
                  </a:txBody>
                  <a:tcPr anchor="ctr"/>
                </a:tc>
                <a:extLst>
                  <a:ext uri="{0D108BD9-81ED-4DB2-BD59-A6C34878D82A}">
                    <a16:rowId xmlns:a16="http://schemas.microsoft.com/office/drawing/2014/main" val="2059558625"/>
                  </a:ext>
                </a:extLst>
              </a:tr>
            </a:tbl>
          </a:graphicData>
        </a:graphic>
      </p:graphicFrame>
      <p:sp>
        <p:nvSpPr>
          <p:cNvPr id="3" name="Title 1">
            <a:extLst>
              <a:ext uri="{FF2B5EF4-FFF2-40B4-BE49-F238E27FC236}">
                <a16:creationId xmlns:a16="http://schemas.microsoft.com/office/drawing/2014/main" id="{C26CAEB8-3D0B-61C9-8A1F-1C56B1DCF470}"/>
              </a:ext>
            </a:extLst>
          </p:cNvPr>
          <p:cNvSpPr>
            <a:spLocks noGrp="1"/>
          </p:cNvSpPr>
          <p:nvPr>
            <p:ph type="title"/>
          </p:nvPr>
        </p:nvSpPr>
        <p:spPr>
          <a:xfrm>
            <a:off x="2311401" y="120227"/>
            <a:ext cx="6824133" cy="1168400"/>
          </a:xfrm>
        </p:spPr>
        <p:txBody>
          <a:bodyPr vert="horz" lIns="91440" tIns="45720" rIns="91440" bIns="45720" rtlCol="0" anchor="b" anchorCtr="0">
            <a:normAutofit/>
          </a:bodyPr>
          <a:lstStyle/>
          <a:p>
            <a:r>
              <a:rPr lang="en-US" dirty="0"/>
              <a:t>Performance Comparison</a:t>
            </a:r>
            <a:endParaRPr lang="en-US" kern="1200" cap="all" spc="300" baseline="0" dirty="0">
              <a:latin typeface="+mj-lt"/>
              <a:ea typeface="+mj-ea"/>
              <a:cs typeface="+mj-cs"/>
            </a:endParaRPr>
          </a:p>
        </p:txBody>
      </p:sp>
    </p:spTree>
    <p:extLst>
      <p:ext uri="{BB962C8B-B14F-4D97-AF65-F5344CB8AC3E}">
        <p14:creationId xmlns:p14="http://schemas.microsoft.com/office/powerpoint/2010/main" val="1649597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B3A07C8D-684A-48FC-64F0-037D59C3A584}"/>
              </a:ext>
            </a:extLst>
          </p:cNvPr>
          <p:cNvPicPr>
            <a:picLocks noGrp="1" noChangeAspect="1"/>
          </p:cNvPicPr>
          <p:nvPr>
            <p:ph sz="quarter" idx="14"/>
          </p:nvPr>
        </p:nvPicPr>
        <p:blipFill>
          <a:blip r:embed="rId3"/>
          <a:stretch>
            <a:fillRect/>
          </a:stretch>
        </p:blipFill>
        <p:spPr>
          <a:xfrm>
            <a:off x="899160" y="406969"/>
            <a:ext cx="10673080" cy="6044062"/>
          </a:xfrm>
          <a:prstGeom prst="rect">
            <a:avLst/>
          </a:prstGeom>
        </p:spPr>
      </p:pic>
    </p:spTree>
    <p:extLst>
      <p:ext uri="{BB962C8B-B14F-4D97-AF65-F5344CB8AC3E}">
        <p14:creationId xmlns:p14="http://schemas.microsoft.com/office/powerpoint/2010/main" val="179034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3AA8-6C52-545C-5E9C-C6F07CA0E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378D8-D299-2955-A008-896900F115D8}"/>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kern="1200" cap="all" spc="300" baseline="0" dirty="0">
                <a:latin typeface="+mj-lt"/>
                <a:ea typeface="+mj-ea"/>
                <a:cs typeface="+mj-cs"/>
              </a:rPr>
              <a:t>Challenges encountered</a:t>
            </a:r>
          </a:p>
        </p:txBody>
      </p:sp>
      <p:graphicFrame>
        <p:nvGraphicFramePr>
          <p:cNvPr id="13" name="Content Placeholder 2">
            <a:extLst>
              <a:ext uri="{FF2B5EF4-FFF2-40B4-BE49-F238E27FC236}">
                <a16:creationId xmlns:a16="http://schemas.microsoft.com/office/drawing/2014/main" id="{6E6F64E1-DD9F-58EA-3F5A-8993A6BF4B49}"/>
              </a:ext>
            </a:extLst>
          </p:cNvPr>
          <p:cNvGraphicFramePr>
            <a:graphicFrameLocks noGrp="1"/>
          </p:cNvGraphicFramePr>
          <p:nvPr>
            <p:ph type="tbl" sz="quarter" idx="13"/>
            <p:extLst>
              <p:ext uri="{D42A27DB-BD31-4B8C-83A1-F6EECF244321}">
                <p14:modId xmlns:p14="http://schemas.microsoft.com/office/powerpoint/2010/main" val="1339246667"/>
              </p:ext>
            </p:extLst>
          </p:nvPr>
        </p:nvGraphicFramePr>
        <p:xfrm>
          <a:off x="1132514" y="1691323"/>
          <a:ext cx="10221286" cy="44319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5154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A3583-BDE4-4949-AA18-F6834B62EB60}"/>
              </a:ext>
            </a:extLst>
          </p:cNvPr>
          <p:cNvSpPr>
            <a:spLocks noGrp="1"/>
          </p:cNvSpPr>
          <p:nvPr>
            <p:ph type="title"/>
          </p:nvPr>
        </p:nvSpPr>
        <p:spPr>
          <a:xfrm>
            <a:off x="6562816" y="457200"/>
            <a:ext cx="4837176" cy="1993392"/>
          </a:xfrm>
        </p:spPr>
        <p:txBody>
          <a:bodyPr vert="horz" lIns="91440" tIns="45720" rIns="91440" bIns="45720" rtlCol="0" anchor="b">
            <a:normAutofit/>
          </a:bodyPr>
          <a:lstStyle/>
          <a:p>
            <a:r>
              <a:rPr lang="en-US" kern="1200" cap="all" spc="300" baseline="0" dirty="0">
                <a:latin typeface="+mj-lt"/>
                <a:ea typeface="+mj-ea"/>
                <a:cs typeface="+mj-cs"/>
              </a:rPr>
              <a:t>Challenges Encountered</a:t>
            </a:r>
          </a:p>
        </p:txBody>
      </p:sp>
      <p:pic>
        <p:nvPicPr>
          <p:cNvPr id="13" name="Picture 12" descr="Hand with red strings">
            <a:extLst>
              <a:ext uri="{FF2B5EF4-FFF2-40B4-BE49-F238E27FC236}">
                <a16:creationId xmlns:a16="http://schemas.microsoft.com/office/drawing/2014/main" id="{4D3E724E-A60C-6CA7-1644-D4B3577C58B9}"/>
              </a:ext>
            </a:extLst>
          </p:cNvPr>
          <p:cNvPicPr>
            <a:picLocks noChangeAspect="1"/>
          </p:cNvPicPr>
          <p:nvPr/>
        </p:nvPicPr>
        <p:blipFill>
          <a:blip r:embed="rId2"/>
          <a:srcRect l="22233" r="18247" b="-1"/>
          <a:stretch/>
        </p:blipFill>
        <p:spPr>
          <a:xfrm>
            <a:off x="-28882" y="10"/>
            <a:ext cx="6115050" cy="6857990"/>
          </a:xfrm>
          <a:prstGeom prst="parallelogram">
            <a:avLst/>
          </a:prstGeom>
          <a:noFill/>
          <a:ln>
            <a:noFill/>
          </a:ln>
        </p:spPr>
      </p:pic>
      <p:sp>
        <p:nvSpPr>
          <p:cNvPr id="9" name="TextBox 8">
            <a:extLst>
              <a:ext uri="{FF2B5EF4-FFF2-40B4-BE49-F238E27FC236}">
                <a16:creationId xmlns:a16="http://schemas.microsoft.com/office/drawing/2014/main" id="{6DA2CDD6-BE4E-85F8-B714-8C02E1D385C1}"/>
              </a:ext>
            </a:extLst>
          </p:cNvPr>
          <p:cNvSpPr txBox="1"/>
          <p:nvPr/>
        </p:nvSpPr>
        <p:spPr>
          <a:xfrm>
            <a:off x="6562818" y="2752344"/>
            <a:ext cx="4837174" cy="3136392"/>
          </a:xfrm>
          <a:prstGeom prst="rect">
            <a:avLst/>
          </a:prstGeom>
        </p:spPr>
        <p:txBody>
          <a:bodyPr vert="horz" lIns="91440" tIns="45720" rIns="91440" bIns="45720" rtlCol="0" anchor="t" anchorCtr="0">
            <a:normAutofit/>
          </a:bodyPr>
          <a:lstStyle/>
          <a:p>
            <a:pPr>
              <a:lnSpc>
                <a:spcPct val="140000"/>
              </a:lnSpc>
              <a:spcBef>
                <a:spcPts val="1000"/>
              </a:spcBef>
              <a:buClr>
                <a:schemeClr val="accent2"/>
              </a:buClr>
            </a:pPr>
            <a:r>
              <a:rPr lang="en-US" sz="1100" b="1" cap="all" spc="300" dirty="0"/>
              <a:t>Threshold Sensitivity</a:t>
            </a:r>
          </a:p>
          <a:p>
            <a:pPr>
              <a:lnSpc>
                <a:spcPct val="140000"/>
              </a:lnSpc>
              <a:spcBef>
                <a:spcPts val="1000"/>
              </a:spcBef>
              <a:buClr>
                <a:schemeClr val="accent2"/>
              </a:buClr>
            </a:pPr>
            <a:r>
              <a:rPr lang="en-US" sz="1100" b="1" cap="all" spc="300" dirty="0"/>
              <a:t>Challenge</a:t>
            </a:r>
            <a:r>
              <a:rPr lang="en-US" sz="1100" cap="all" spc="300" dirty="0"/>
              <a:t>: Determining the </a:t>
            </a:r>
            <a:r>
              <a:rPr lang="en-US" sz="1100" b="1" cap="all" spc="300" dirty="0"/>
              <a:t>optimal anomaly threshold</a:t>
            </a:r>
            <a:r>
              <a:rPr lang="en-US" sz="1100" cap="all" spc="300" dirty="0"/>
              <a:t> for classifying fraud was difficult and influenced </a:t>
            </a:r>
            <a:r>
              <a:rPr lang="en-US" sz="1100" b="1" cap="all" spc="300" dirty="0"/>
              <a:t>precision, recall</a:t>
            </a:r>
            <a:r>
              <a:rPr lang="en-US" sz="1100" cap="all" spc="300" dirty="0"/>
              <a:t>, and overall model performance.</a:t>
            </a:r>
          </a:p>
          <a:p>
            <a:pPr>
              <a:lnSpc>
                <a:spcPct val="140000"/>
              </a:lnSpc>
              <a:spcBef>
                <a:spcPts val="1000"/>
              </a:spcBef>
              <a:buClr>
                <a:schemeClr val="accent2"/>
              </a:buClr>
            </a:pPr>
            <a:r>
              <a:rPr lang="en-US" sz="1100" b="1" cap="all" spc="300" dirty="0"/>
              <a:t>Mitigation</a:t>
            </a:r>
            <a:r>
              <a:rPr lang="en-US" sz="1100" cap="all" spc="300" dirty="0"/>
              <a:t>:</a:t>
            </a:r>
          </a:p>
          <a:p>
            <a:pPr marL="0" lvl="1">
              <a:lnSpc>
                <a:spcPct val="140000"/>
              </a:lnSpc>
              <a:spcBef>
                <a:spcPts val="1000"/>
              </a:spcBef>
              <a:buClr>
                <a:schemeClr val="accent2"/>
              </a:buClr>
            </a:pPr>
            <a:r>
              <a:rPr lang="en-US" sz="1100" cap="all" spc="300" dirty="0"/>
              <a:t>We fine-tuned the anomaly threshold using </a:t>
            </a:r>
            <a:r>
              <a:rPr lang="en-US" sz="1100" b="1" cap="all" spc="300" dirty="0"/>
              <a:t>grid search</a:t>
            </a:r>
            <a:r>
              <a:rPr lang="en-US" sz="1100" cap="all" spc="300" dirty="0"/>
              <a:t> techniques to find the best balance between precision and recall.</a:t>
            </a:r>
          </a:p>
        </p:txBody>
      </p:sp>
    </p:spTree>
    <p:extLst>
      <p:ext uri="{BB962C8B-B14F-4D97-AF65-F5344CB8AC3E}">
        <p14:creationId xmlns:p14="http://schemas.microsoft.com/office/powerpoint/2010/main" val="9262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15" name="Content Placeholder 2">
            <a:extLst>
              <a:ext uri="{FF2B5EF4-FFF2-40B4-BE49-F238E27FC236}">
                <a16:creationId xmlns:a16="http://schemas.microsoft.com/office/drawing/2014/main" id="{B7D109FA-A5BA-E3AA-E08C-7F81D01CB3BF}"/>
              </a:ext>
            </a:extLst>
          </p:cNvPr>
          <p:cNvGraphicFramePr>
            <a:graphicFrameLocks noGrp="1"/>
          </p:cNvGraphicFramePr>
          <p:nvPr>
            <p:ph type="tbl" sz="quarter" idx="13"/>
            <p:extLst>
              <p:ext uri="{D42A27DB-BD31-4B8C-83A1-F6EECF244321}">
                <p14:modId xmlns:p14="http://schemas.microsoft.com/office/powerpoint/2010/main" val="3627847573"/>
              </p:ext>
            </p:extLst>
          </p:nvPr>
        </p:nvGraphicFramePr>
        <p:xfrm>
          <a:off x="-1" y="1468901"/>
          <a:ext cx="11895667" cy="45847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377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5"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C22AF-3CCF-1410-7783-47BEA36B4F06}"/>
              </a:ext>
            </a:extLst>
          </p:cNvPr>
          <p:cNvSpPr>
            <a:spLocks noGrp="1"/>
          </p:cNvSpPr>
          <p:nvPr>
            <p:ph type="title"/>
          </p:nvPr>
        </p:nvSpPr>
        <p:spPr>
          <a:xfrm>
            <a:off x="5242425" y="466344"/>
            <a:ext cx="6241651" cy="1710354"/>
          </a:xfrm>
        </p:spPr>
        <p:txBody>
          <a:bodyPr anchor="ctr">
            <a:normAutofit/>
          </a:bodyPr>
          <a:lstStyle/>
          <a:p>
            <a:r>
              <a:rPr lang="en-US" dirty="0"/>
              <a:t>Future Scope</a:t>
            </a:r>
          </a:p>
        </p:txBody>
      </p:sp>
      <p:pic>
        <p:nvPicPr>
          <p:cNvPr id="5" name="Video 4" descr="3D Graphs">
            <a:extLst>
              <a:ext uri="{FF2B5EF4-FFF2-40B4-BE49-F238E27FC236}">
                <a16:creationId xmlns:a16="http://schemas.microsoft.com/office/drawing/2014/main" id="{04297901-F1FF-E714-38DC-5EB081E8BE5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8963" r="55767" b="-1"/>
          <a:stretch/>
        </p:blipFill>
        <p:spPr>
          <a:xfrm>
            <a:off x="20" y="10"/>
            <a:ext cx="4287818" cy="6857990"/>
          </a:xfrm>
          <a:prstGeom prst="rect">
            <a:avLst/>
          </a:prstGeom>
          <a:noFill/>
        </p:spPr>
      </p:pic>
      <p:sp>
        <p:nvSpPr>
          <p:cNvPr id="3" name="Content Placeholder 2">
            <a:extLst>
              <a:ext uri="{FF2B5EF4-FFF2-40B4-BE49-F238E27FC236}">
                <a16:creationId xmlns:a16="http://schemas.microsoft.com/office/drawing/2014/main" id="{CA42DD14-E685-CA8F-8DA1-BFCA57503111}"/>
              </a:ext>
            </a:extLst>
          </p:cNvPr>
          <p:cNvSpPr>
            <a:spLocks noGrp="1"/>
          </p:cNvSpPr>
          <p:nvPr>
            <p:ph idx="1"/>
          </p:nvPr>
        </p:nvSpPr>
        <p:spPr>
          <a:xfrm>
            <a:off x="5242426" y="2286000"/>
            <a:ext cx="6241650" cy="3474720"/>
          </a:xfrm>
        </p:spPr>
        <p:txBody>
          <a:bodyPr>
            <a:normAutofit/>
          </a:bodyPr>
          <a:lstStyle/>
          <a:p>
            <a:r>
              <a:rPr lang="en-US" dirty="0"/>
              <a:t>Advanced hyperparameter testing with  more aggressive search strategies and wider ranges of latent dimension, learning rates and loss</a:t>
            </a:r>
          </a:p>
          <a:p>
            <a:r>
              <a:rPr lang="en-US" dirty="0"/>
              <a:t>Try other advanced architectures like transformer-based Autoencoders for capturing sequential fraud patterns.</a:t>
            </a:r>
          </a:p>
          <a:p>
            <a:r>
              <a:rPr lang="en-US" dirty="0"/>
              <a:t>Evaluate more on noisy, real-world dataset  to validate VAE’s generalization capabilities</a:t>
            </a:r>
          </a:p>
        </p:txBody>
      </p:sp>
    </p:spTree>
    <p:extLst>
      <p:ext uri="{BB962C8B-B14F-4D97-AF65-F5344CB8AC3E}">
        <p14:creationId xmlns:p14="http://schemas.microsoft.com/office/powerpoint/2010/main" val="232417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85"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6" restart="whenNotActive" fill="hold" evtFilter="cancelBubble" nodeType="interactiveSeq">
                <p:stCondLst>
                  <p:cond evt="onClick" delay="0">
                    <p:tgtEl>
                      <p:spTgt spid="5"/>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5"/>
                                        </p:tgtEl>
                                      </p:cBhvr>
                                    </p:cmd>
                                  </p:childTnLst>
                                </p:cTn>
                              </p:par>
                            </p:childTnLst>
                          </p:cTn>
                        </p:par>
                      </p:childTnLst>
                    </p:cTn>
                  </p:par>
                </p:childTnLst>
              </p:cTn>
              <p:nextCondLst>
                <p:cond evt="onClick" delay="0">
                  <p:tgtEl>
                    <p:spTgt spid="5"/>
                  </p:tgtEl>
                </p:cond>
              </p:nextCondLst>
            </p:seq>
            <p:video>
              <p:cMediaNode mute="1">
                <p:cTn id="31" repeatCount="indefinite" fill="hold" display="0">
                  <p:stCondLst>
                    <p:cond delay="indefinite"/>
                  </p:stCondLst>
                </p:cTn>
                <p:tgtEl>
                  <p:spTgt spid="5"/>
                </p:tgtEl>
              </p:cMediaNode>
            </p:video>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r>
              <a:rPr lang="en-US" dirty="0"/>
              <a:t>ANY QUESTION?</a:t>
            </a:r>
          </a:p>
        </p:txBody>
      </p:sp>
    </p:spTree>
    <p:extLst>
      <p:ext uri="{BB962C8B-B14F-4D97-AF65-F5344CB8AC3E}">
        <p14:creationId xmlns:p14="http://schemas.microsoft.com/office/powerpoint/2010/main" val="218447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1000"/>
                                        <p:tgtEl>
                                          <p:spTgt spid="8">
                                            <p:txEl>
                                              <p:pRg st="0" end="0"/>
                                            </p:txEl>
                                          </p:spTgt>
                                        </p:tgtEl>
                                      </p:cBhvr>
                                    </p:animEffect>
                                    <p:anim calcmode="lin" valueType="num">
                                      <p:cBhvr>
                                        <p:cTn id="1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{2D88A181-350A-41A5-8DDB-19F4A519FEB8}tf55661986_win32</Template>
  <TotalTime>5503</TotalTime>
  <Words>1224</Words>
  <Application>Microsoft Office PowerPoint</Application>
  <PresentationFormat>Widescreen</PresentationFormat>
  <Paragraphs>190</Paragraphs>
  <Slides>21</Slides>
  <Notes>14</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Arial</vt:lpstr>
      <vt:lpstr>Calibri</vt:lpstr>
      <vt:lpstr>Calibri Light</vt:lpstr>
      <vt:lpstr>Roboto</vt:lpstr>
      <vt:lpstr>Symbol</vt:lpstr>
      <vt:lpstr>Times New Roman</vt:lpstr>
      <vt:lpstr>Wingdings</vt:lpstr>
      <vt:lpstr>Custom</vt:lpstr>
      <vt:lpstr> Credit card fraud detection using autoencoders</vt:lpstr>
      <vt:lpstr>OBjective</vt:lpstr>
      <vt:lpstr>DATASET loading and Processing</vt:lpstr>
      <vt:lpstr>DATASET- Kaggle Credit card</vt:lpstr>
      <vt:lpstr>Data Processing</vt:lpstr>
      <vt:lpstr>Experiment Tracking with Weights &amp; Biases (WandB)</vt:lpstr>
      <vt:lpstr>Architecture overview- Simple Autoencoder</vt:lpstr>
      <vt:lpstr>Model Performance &amp; Results</vt:lpstr>
      <vt:lpstr>MODEL EVALUATION METRICS and results</vt:lpstr>
      <vt:lpstr>MODEL EVALUATION METRICS and results- CONTD</vt:lpstr>
      <vt:lpstr>Architecture overview- Variational Autoencoder</vt:lpstr>
      <vt:lpstr>Model Performance &amp; Results</vt:lpstr>
      <vt:lpstr>PowerPoint Presentation</vt:lpstr>
      <vt:lpstr>HyperParameter Tuning</vt:lpstr>
      <vt:lpstr>Performance Comparison</vt:lpstr>
      <vt:lpstr>PowerPoint Presentation</vt:lpstr>
      <vt:lpstr>Challenges encountered</vt:lpstr>
      <vt:lpstr>Challenges Encountered</vt:lpstr>
      <vt:lpstr>Conclusion</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Sonal Shreya</dc:creator>
  <cp:lastModifiedBy>Sonal Shreya</cp:lastModifiedBy>
  <cp:revision>8</cp:revision>
  <dcterms:created xsi:type="dcterms:W3CDTF">2025-03-10T21:11:32Z</dcterms:created>
  <dcterms:modified xsi:type="dcterms:W3CDTF">2025-04-08T16:36:06Z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