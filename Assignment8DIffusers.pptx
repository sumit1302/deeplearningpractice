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81" r:id="rId5"/>
    <p:sldId id="284" r:id="rId6"/>
    <p:sldId id="278" r:id="rId7"/>
    <p:sldId id="261" r:id="rId8"/>
    <p:sldId id="293" r:id="rId9"/>
    <p:sldId id="279" r:id="rId10"/>
    <p:sldId id="295" r:id="rId11"/>
    <p:sldId id="273" r:id="rId12"/>
    <p:sldId id="265" r:id="rId13"/>
    <p:sldId id="277" r:id="rId14"/>
    <p:sldId id="294" r:id="rId15"/>
    <p:sldId id="266" r:id="rId16"/>
    <p:sldId id="296" r:id="rId17"/>
    <p:sldId id="297" r:id="rId18"/>
    <p:sldId id="298" r:id="rId19"/>
    <p:sldId id="299" r:id="rId20"/>
    <p:sldId id="300" r:id="rId21"/>
    <p:sldId id="28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879" autoAdjust="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0356C8-F3B4-4DD7-B8BF-162755F10DF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2A3EE9B-655D-48EF-908B-7DE6D802FD9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Explain diffusion models from the perspective of use in architectural image synthesis.</a:t>
          </a:r>
        </a:p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B3ABD55D-F162-43FA-BA85-2BDC6981E03F}" type="parTrans" cxnId="{96752827-E07E-4E20-845C-0C4185DB3DBA}">
      <dgm:prSet/>
      <dgm:spPr/>
      <dgm:t>
        <a:bodyPr/>
        <a:lstStyle/>
        <a:p>
          <a:endParaRPr lang="en-US"/>
        </a:p>
      </dgm:t>
    </dgm:pt>
    <dgm:pt modelId="{D5CED279-B0FE-44DB-A47C-83DD925B89CE}" type="sibTrans" cxnId="{96752827-E07E-4E20-845C-0C4185DB3DBA}">
      <dgm:prSet/>
      <dgm:spPr/>
      <dgm:t>
        <a:bodyPr/>
        <a:lstStyle/>
        <a:p>
          <a:endParaRPr lang="en-US"/>
        </a:p>
      </dgm:t>
    </dgm:pt>
    <dgm:pt modelId="{7AAB7E97-0BF9-41FB-B866-444E286BB04B}">
      <dgm:prSet/>
      <dgm:spPr/>
      <dgm:t>
        <a:bodyPr/>
        <a:lstStyle/>
        <a:p>
          <a:r>
            <a:rPr lang="en-US" b="0" i="0" dirty="0"/>
            <a:t>Generate floor plans from text prompts using diffusers</a:t>
          </a:r>
        </a:p>
      </dgm:t>
    </dgm:pt>
    <dgm:pt modelId="{C6A60EC7-318F-4F94-8B33-AD4F61A232DA}" type="parTrans" cxnId="{03B044BF-C126-4D32-8AC9-72DBB7CA7F31}">
      <dgm:prSet/>
      <dgm:spPr/>
      <dgm:t>
        <a:bodyPr/>
        <a:lstStyle/>
        <a:p>
          <a:endParaRPr lang="en-US"/>
        </a:p>
      </dgm:t>
    </dgm:pt>
    <dgm:pt modelId="{5A949EED-AA2F-40C0-B737-7E54C90ED76D}" type="sibTrans" cxnId="{03B044BF-C126-4D32-8AC9-72DBB7CA7F31}">
      <dgm:prSet/>
      <dgm:spPr/>
      <dgm:t>
        <a:bodyPr/>
        <a:lstStyle/>
        <a:p>
          <a:endParaRPr lang="en-US"/>
        </a:p>
      </dgm:t>
    </dgm:pt>
    <dgm:pt modelId="{23A93564-7881-4EF6-9B5C-0E98C661423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Look at how different models and schedulers perform.</a:t>
          </a:r>
        </a:p>
      </dgm:t>
    </dgm:pt>
    <dgm:pt modelId="{5073E652-BB93-458F-9A4B-55E5623DBDDF}" type="parTrans" cxnId="{A7482EE7-C9DB-4582-83C2-92C1C15F38BA}">
      <dgm:prSet/>
      <dgm:spPr/>
      <dgm:t>
        <a:bodyPr/>
        <a:lstStyle/>
        <a:p>
          <a:endParaRPr lang="en-US"/>
        </a:p>
      </dgm:t>
    </dgm:pt>
    <dgm:pt modelId="{F7D82C19-FEF7-42F3-8EEB-3048C9823415}" type="sibTrans" cxnId="{A7482EE7-C9DB-4582-83C2-92C1C15F38BA}">
      <dgm:prSet/>
      <dgm:spPr/>
      <dgm:t>
        <a:bodyPr/>
        <a:lstStyle/>
        <a:p>
          <a:endParaRPr lang="en-US"/>
        </a:p>
      </dgm:t>
    </dgm:pt>
    <dgm:pt modelId="{83237C39-D5FF-45CD-ADBF-B055049848FE}" type="pres">
      <dgm:prSet presAssocID="{CB0356C8-F3B4-4DD7-B8BF-162755F10DFD}" presName="linear" presStyleCnt="0">
        <dgm:presLayoutVars>
          <dgm:animLvl val="lvl"/>
          <dgm:resizeHandles val="exact"/>
        </dgm:presLayoutVars>
      </dgm:prSet>
      <dgm:spPr/>
    </dgm:pt>
    <dgm:pt modelId="{48920B50-07A9-400E-A2E5-4C2872AA34F8}" type="pres">
      <dgm:prSet presAssocID="{C2A3EE9B-655D-48EF-908B-7DE6D802FD9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5465C41-FF07-4EB4-A93E-6AF1EAD4B33C}" type="pres">
      <dgm:prSet presAssocID="{D5CED279-B0FE-44DB-A47C-83DD925B89CE}" presName="spacer" presStyleCnt="0"/>
      <dgm:spPr/>
    </dgm:pt>
    <dgm:pt modelId="{57DFEE1C-23F5-453C-9D30-FF2185F00024}" type="pres">
      <dgm:prSet presAssocID="{7AAB7E97-0BF9-41FB-B866-444E286BB04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582A65E-272B-45FE-9DA8-A8380C68F224}" type="pres">
      <dgm:prSet presAssocID="{5A949EED-AA2F-40C0-B737-7E54C90ED76D}" presName="spacer" presStyleCnt="0"/>
      <dgm:spPr/>
    </dgm:pt>
    <dgm:pt modelId="{5FE9E93B-24FC-4E54-848C-A89AB8A25A92}" type="pres">
      <dgm:prSet presAssocID="{23A93564-7881-4EF6-9B5C-0E98C661423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6752827-E07E-4E20-845C-0C4185DB3DBA}" srcId="{CB0356C8-F3B4-4DD7-B8BF-162755F10DFD}" destId="{C2A3EE9B-655D-48EF-908B-7DE6D802FD9D}" srcOrd="0" destOrd="0" parTransId="{B3ABD55D-F162-43FA-BA85-2BDC6981E03F}" sibTransId="{D5CED279-B0FE-44DB-A47C-83DD925B89CE}"/>
    <dgm:cxn modelId="{CD00CC4C-4890-4838-8197-D661B9153DC6}" type="presOf" srcId="{CB0356C8-F3B4-4DD7-B8BF-162755F10DFD}" destId="{83237C39-D5FF-45CD-ADBF-B055049848FE}" srcOrd="0" destOrd="0" presId="urn:microsoft.com/office/officeart/2005/8/layout/vList2"/>
    <dgm:cxn modelId="{C48EEC79-F563-4FD3-877E-25A6264CC612}" type="presOf" srcId="{7AAB7E97-0BF9-41FB-B866-444E286BB04B}" destId="{57DFEE1C-23F5-453C-9D30-FF2185F00024}" srcOrd="0" destOrd="0" presId="urn:microsoft.com/office/officeart/2005/8/layout/vList2"/>
    <dgm:cxn modelId="{03B044BF-C126-4D32-8AC9-72DBB7CA7F31}" srcId="{CB0356C8-F3B4-4DD7-B8BF-162755F10DFD}" destId="{7AAB7E97-0BF9-41FB-B866-444E286BB04B}" srcOrd="1" destOrd="0" parTransId="{C6A60EC7-318F-4F94-8B33-AD4F61A232DA}" sibTransId="{5A949EED-AA2F-40C0-B737-7E54C90ED76D}"/>
    <dgm:cxn modelId="{A7482EE7-C9DB-4582-83C2-92C1C15F38BA}" srcId="{CB0356C8-F3B4-4DD7-B8BF-162755F10DFD}" destId="{23A93564-7881-4EF6-9B5C-0E98C661423D}" srcOrd="2" destOrd="0" parTransId="{5073E652-BB93-458F-9A4B-55E5623DBDDF}" sibTransId="{F7D82C19-FEF7-42F3-8EEB-3048C9823415}"/>
    <dgm:cxn modelId="{1FEFC6F8-DEB8-4A17-80CC-BDD571372715}" type="presOf" srcId="{23A93564-7881-4EF6-9B5C-0E98C661423D}" destId="{5FE9E93B-24FC-4E54-848C-A89AB8A25A92}" srcOrd="0" destOrd="0" presId="urn:microsoft.com/office/officeart/2005/8/layout/vList2"/>
    <dgm:cxn modelId="{F76D4EFF-DDC6-4A6A-94CB-2F9D1C150153}" type="presOf" srcId="{C2A3EE9B-655D-48EF-908B-7DE6D802FD9D}" destId="{48920B50-07A9-400E-A2E5-4C2872AA34F8}" srcOrd="0" destOrd="0" presId="urn:microsoft.com/office/officeart/2005/8/layout/vList2"/>
    <dgm:cxn modelId="{E4813372-307D-4BE9-B974-715ECE7521AD}" type="presParOf" srcId="{83237C39-D5FF-45CD-ADBF-B055049848FE}" destId="{48920B50-07A9-400E-A2E5-4C2872AA34F8}" srcOrd="0" destOrd="0" presId="urn:microsoft.com/office/officeart/2005/8/layout/vList2"/>
    <dgm:cxn modelId="{3D3BFC52-0607-42F3-ACCF-D08A89278591}" type="presParOf" srcId="{83237C39-D5FF-45CD-ADBF-B055049848FE}" destId="{25465C41-FF07-4EB4-A93E-6AF1EAD4B33C}" srcOrd="1" destOrd="0" presId="urn:microsoft.com/office/officeart/2005/8/layout/vList2"/>
    <dgm:cxn modelId="{3F33444C-0ECF-470B-8984-77E2C212B5BB}" type="presParOf" srcId="{83237C39-D5FF-45CD-ADBF-B055049848FE}" destId="{57DFEE1C-23F5-453C-9D30-FF2185F00024}" srcOrd="2" destOrd="0" presId="urn:microsoft.com/office/officeart/2005/8/layout/vList2"/>
    <dgm:cxn modelId="{42FCC8BB-883B-492A-B1AF-948A1C39AAF8}" type="presParOf" srcId="{83237C39-D5FF-45CD-ADBF-B055049848FE}" destId="{0582A65E-272B-45FE-9DA8-A8380C68F224}" srcOrd="3" destOrd="0" presId="urn:microsoft.com/office/officeart/2005/8/layout/vList2"/>
    <dgm:cxn modelId="{75440F96-9A58-4BC1-9F1E-9CC8D941C099}" type="presParOf" srcId="{83237C39-D5FF-45CD-ADBF-B055049848FE}" destId="{5FE9E93B-24FC-4E54-848C-A89AB8A25A9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3236CC-1FC8-49EE-9D16-AACA210C4E2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ED9E45-6918-4396-913B-CFC76A992D71}">
      <dgm:prSet/>
      <dgm:spPr/>
      <dgm:t>
        <a:bodyPr/>
        <a:lstStyle/>
        <a:p>
          <a:r>
            <a:rPr lang="en-US" dirty="0"/>
            <a:t>A latent diffusion model that generates high-quality images from text prompts using VAE, </a:t>
          </a:r>
          <a:r>
            <a:rPr lang="en-US" dirty="0" err="1"/>
            <a:t>UNet</a:t>
          </a:r>
          <a:r>
            <a:rPr lang="en-US" dirty="0"/>
            <a:t>, and CLIP in a compressed latent space—making it efficient and resource-friendly.</a:t>
          </a:r>
        </a:p>
      </dgm:t>
    </dgm:pt>
    <dgm:pt modelId="{3E6A42F1-15F3-4EC1-B1C2-968156C02523}" type="parTrans" cxnId="{5E4DE321-9B7A-4F5D-AA58-8A545E5CD50C}">
      <dgm:prSet/>
      <dgm:spPr/>
      <dgm:t>
        <a:bodyPr/>
        <a:lstStyle/>
        <a:p>
          <a:endParaRPr lang="en-US"/>
        </a:p>
      </dgm:t>
    </dgm:pt>
    <dgm:pt modelId="{072FBC2C-65D6-4205-B7E4-32D67F0564A9}" type="sibTrans" cxnId="{5E4DE321-9B7A-4F5D-AA58-8A545E5CD50C}">
      <dgm:prSet/>
      <dgm:spPr/>
      <dgm:t>
        <a:bodyPr/>
        <a:lstStyle/>
        <a:p>
          <a:endParaRPr lang="en-US"/>
        </a:p>
      </dgm:t>
    </dgm:pt>
    <dgm:pt modelId="{0F663684-D70D-4374-8282-49D8AFCDF7CB}">
      <dgm:prSet/>
      <dgm:spPr/>
      <dgm:t>
        <a:bodyPr/>
        <a:lstStyle/>
        <a:p>
          <a:r>
            <a:rPr lang="en-US" dirty="0"/>
            <a:t>Using </a:t>
          </a:r>
          <a:r>
            <a:rPr lang="en-US" b="1" dirty="0"/>
            <a:t>pre-trained pipeline</a:t>
          </a:r>
          <a:r>
            <a:rPr lang="en-US" dirty="0"/>
            <a:t> from Hugging Face's diffusers library.</a:t>
          </a:r>
        </a:p>
        <a:p>
          <a:pPr>
            <a:buNone/>
          </a:pPr>
          <a:r>
            <a:rPr lang="en-US" dirty="0"/>
            <a:t>Model is run multiple times using prompts for:</a:t>
          </a:r>
        </a:p>
      </dgm:t>
    </dgm:pt>
    <dgm:pt modelId="{CEF0A598-4339-4755-A674-41DB374804F1}" type="parTrans" cxnId="{6A6D8078-3BE2-44DB-8873-FEC7CE923051}">
      <dgm:prSet/>
      <dgm:spPr/>
      <dgm:t>
        <a:bodyPr/>
        <a:lstStyle/>
        <a:p>
          <a:endParaRPr lang="en-US"/>
        </a:p>
      </dgm:t>
    </dgm:pt>
    <dgm:pt modelId="{13876A35-2CFD-47DF-A518-32AF21168B25}" type="sibTrans" cxnId="{6A6D8078-3BE2-44DB-8873-FEC7CE923051}">
      <dgm:prSet/>
      <dgm:spPr/>
      <dgm:t>
        <a:bodyPr/>
        <a:lstStyle/>
        <a:p>
          <a:endParaRPr lang="en-US"/>
        </a:p>
      </dgm:t>
    </dgm:pt>
    <dgm:pt modelId="{8162E93C-7A12-444F-BF04-18C9A1604134}">
      <dgm:prSet/>
      <dgm:spPr/>
      <dgm:t>
        <a:bodyPr/>
        <a:lstStyle/>
        <a:p>
          <a:r>
            <a:rPr lang="en-US"/>
            <a:t>A 2 Bedroom-Hall-Kitchen (2BHK) apartment</a:t>
          </a:r>
          <a:endParaRPr lang="en-US" dirty="0"/>
        </a:p>
      </dgm:t>
    </dgm:pt>
    <dgm:pt modelId="{A323014C-C05D-4998-BD37-86E4FCC4A03C}" type="parTrans" cxnId="{BB5AE4B8-8119-42EC-A0DB-CB7940D74AC0}">
      <dgm:prSet/>
      <dgm:spPr/>
      <dgm:t>
        <a:bodyPr/>
        <a:lstStyle/>
        <a:p>
          <a:endParaRPr lang="en-US"/>
        </a:p>
      </dgm:t>
    </dgm:pt>
    <dgm:pt modelId="{15CF7C23-8809-4901-9FBD-CDF2FABFE075}" type="sibTrans" cxnId="{BB5AE4B8-8119-42EC-A0DB-CB7940D74AC0}">
      <dgm:prSet/>
      <dgm:spPr/>
      <dgm:t>
        <a:bodyPr/>
        <a:lstStyle/>
        <a:p>
          <a:endParaRPr lang="en-US"/>
        </a:p>
      </dgm:t>
    </dgm:pt>
    <dgm:pt modelId="{E09C86C0-3291-49CB-8B59-26CA60E16283}">
      <dgm:prSet/>
      <dgm:spPr/>
      <dgm:t>
        <a:bodyPr/>
        <a:lstStyle/>
        <a:p>
          <a:r>
            <a:rPr lang="en-US" dirty="0"/>
            <a:t>Fixed Seed=42 for consistent reproducibility</a:t>
          </a:r>
        </a:p>
      </dgm:t>
    </dgm:pt>
    <dgm:pt modelId="{A2725B2D-D302-4CD4-A0B7-FC5A00DCA90A}" type="parTrans" cxnId="{ED220454-7062-43FA-84C0-4F6DD7E61407}">
      <dgm:prSet/>
      <dgm:spPr/>
      <dgm:t>
        <a:bodyPr/>
        <a:lstStyle/>
        <a:p>
          <a:endParaRPr lang="en-US"/>
        </a:p>
      </dgm:t>
    </dgm:pt>
    <dgm:pt modelId="{F5142C59-7A93-4BFC-A6E6-C6C14BE9E98A}" type="sibTrans" cxnId="{ED220454-7062-43FA-84C0-4F6DD7E61407}">
      <dgm:prSet/>
      <dgm:spPr/>
      <dgm:t>
        <a:bodyPr/>
        <a:lstStyle/>
        <a:p>
          <a:endParaRPr lang="en-US"/>
        </a:p>
      </dgm:t>
    </dgm:pt>
    <dgm:pt modelId="{CEF7BA4E-CC69-47A5-AD2D-9E77FD2E34B3}">
      <dgm:prSet/>
      <dgm:spPr/>
      <dgm:t>
        <a:bodyPr/>
        <a:lstStyle/>
        <a:p>
          <a:r>
            <a:rPr lang="en-US"/>
            <a:t>A Fitness center layout</a:t>
          </a:r>
          <a:endParaRPr lang="en-US" dirty="0"/>
        </a:p>
      </dgm:t>
    </dgm:pt>
    <dgm:pt modelId="{B55F61A5-B00A-46F7-AB3F-3131BBD65C13}" type="parTrans" cxnId="{8FDE3562-8C0C-47A5-8FE9-3E2C15E502D0}">
      <dgm:prSet/>
      <dgm:spPr/>
      <dgm:t>
        <a:bodyPr/>
        <a:lstStyle/>
        <a:p>
          <a:endParaRPr lang="en-US"/>
        </a:p>
      </dgm:t>
    </dgm:pt>
    <dgm:pt modelId="{CDDD8B8F-A1B8-4928-8FB4-42A9F786A4EF}" type="sibTrans" cxnId="{8FDE3562-8C0C-47A5-8FE9-3E2C15E502D0}">
      <dgm:prSet/>
      <dgm:spPr/>
      <dgm:t>
        <a:bodyPr/>
        <a:lstStyle/>
        <a:p>
          <a:endParaRPr lang="en-US"/>
        </a:p>
      </dgm:t>
    </dgm:pt>
    <dgm:pt modelId="{ED72CECF-533E-4F00-971F-9380449C64C5}">
      <dgm:prSet/>
      <dgm:spPr/>
      <dgm:t>
        <a:bodyPr/>
        <a:lstStyle/>
        <a:p>
          <a:r>
            <a:rPr lang="en-US"/>
            <a:t>A 3 Bedroom-Hall-Kitchen (3BHK) apartment</a:t>
          </a:r>
          <a:endParaRPr lang="en-US" dirty="0"/>
        </a:p>
      </dgm:t>
    </dgm:pt>
    <dgm:pt modelId="{9EAB27B2-D811-46CB-ACA3-86B1EE9D2EA7}" type="parTrans" cxnId="{1C189473-1166-4E1F-B26E-47E7721CEEA3}">
      <dgm:prSet/>
      <dgm:spPr/>
      <dgm:t>
        <a:bodyPr/>
        <a:lstStyle/>
        <a:p>
          <a:endParaRPr lang="en-US"/>
        </a:p>
      </dgm:t>
    </dgm:pt>
    <dgm:pt modelId="{457F9FBE-2027-441E-A72D-516AA853F72F}" type="sibTrans" cxnId="{1C189473-1166-4E1F-B26E-47E7721CEEA3}">
      <dgm:prSet/>
      <dgm:spPr/>
      <dgm:t>
        <a:bodyPr/>
        <a:lstStyle/>
        <a:p>
          <a:endParaRPr lang="en-US"/>
        </a:p>
      </dgm:t>
    </dgm:pt>
    <dgm:pt modelId="{ABDE73BC-EB65-4085-B711-7F87FAC92D72}">
      <dgm:prSet/>
      <dgm:spPr/>
      <dgm:t>
        <a:bodyPr/>
        <a:lstStyle/>
        <a:p>
          <a:r>
            <a:rPr lang="en-US"/>
            <a:t>A Studio apartment</a:t>
          </a:r>
          <a:endParaRPr lang="en-US" dirty="0"/>
        </a:p>
      </dgm:t>
    </dgm:pt>
    <dgm:pt modelId="{3EC8D49B-B70F-48F7-A505-3C08D2C756B3}" type="parTrans" cxnId="{D2E79F14-5063-4F42-A59F-E275160C3F40}">
      <dgm:prSet/>
      <dgm:spPr/>
      <dgm:t>
        <a:bodyPr/>
        <a:lstStyle/>
        <a:p>
          <a:endParaRPr lang="en-US"/>
        </a:p>
      </dgm:t>
    </dgm:pt>
    <dgm:pt modelId="{07DD18BB-C2CC-4564-9F94-248EAC62ABFA}" type="sibTrans" cxnId="{D2E79F14-5063-4F42-A59F-E275160C3F40}">
      <dgm:prSet/>
      <dgm:spPr/>
      <dgm:t>
        <a:bodyPr/>
        <a:lstStyle/>
        <a:p>
          <a:endParaRPr lang="en-US"/>
        </a:p>
      </dgm:t>
    </dgm:pt>
    <dgm:pt modelId="{BD91D0B9-1786-4A83-8927-D9FAAD4C5785}" type="pres">
      <dgm:prSet presAssocID="{C83236CC-1FC8-49EE-9D16-AACA210C4E2A}" presName="linear" presStyleCnt="0">
        <dgm:presLayoutVars>
          <dgm:animLvl val="lvl"/>
          <dgm:resizeHandles val="exact"/>
        </dgm:presLayoutVars>
      </dgm:prSet>
      <dgm:spPr/>
    </dgm:pt>
    <dgm:pt modelId="{703C5930-F633-4D43-8972-9F523F9E3320}" type="pres">
      <dgm:prSet presAssocID="{34ED9E45-6918-4396-913B-CFC76A992D7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D764C18-74E2-47A2-8AD4-843FA8545700}" type="pres">
      <dgm:prSet presAssocID="{072FBC2C-65D6-4205-B7E4-32D67F0564A9}" presName="spacer" presStyleCnt="0"/>
      <dgm:spPr/>
    </dgm:pt>
    <dgm:pt modelId="{D787F2ED-3D6A-40A3-81FF-A49AF979F937}" type="pres">
      <dgm:prSet presAssocID="{0F663684-D70D-4374-8282-49D8AFCDF7C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B8B7F32-CA0C-4B13-AE63-6130975D9317}" type="pres">
      <dgm:prSet presAssocID="{0F663684-D70D-4374-8282-49D8AFCDF7C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185DF0A-17FC-43CC-B660-60250B1C1E9C}" type="presOf" srcId="{C83236CC-1FC8-49EE-9D16-AACA210C4E2A}" destId="{BD91D0B9-1786-4A83-8927-D9FAAD4C5785}" srcOrd="0" destOrd="0" presId="urn:microsoft.com/office/officeart/2005/8/layout/vList2"/>
    <dgm:cxn modelId="{D2E79F14-5063-4F42-A59F-E275160C3F40}" srcId="{0F663684-D70D-4374-8282-49D8AFCDF7CB}" destId="{ABDE73BC-EB65-4085-B711-7F87FAC92D72}" srcOrd="2" destOrd="0" parTransId="{3EC8D49B-B70F-48F7-A505-3C08D2C756B3}" sibTransId="{07DD18BB-C2CC-4564-9F94-248EAC62ABFA}"/>
    <dgm:cxn modelId="{5D82681B-1369-4CCC-8693-E7174241327D}" type="presOf" srcId="{ED72CECF-533E-4F00-971F-9380449C64C5}" destId="{FB8B7F32-CA0C-4B13-AE63-6130975D9317}" srcOrd="0" destOrd="1" presId="urn:microsoft.com/office/officeart/2005/8/layout/vList2"/>
    <dgm:cxn modelId="{5E4DE321-9B7A-4F5D-AA58-8A545E5CD50C}" srcId="{C83236CC-1FC8-49EE-9D16-AACA210C4E2A}" destId="{34ED9E45-6918-4396-913B-CFC76A992D71}" srcOrd="0" destOrd="0" parTransId="{3E6A42F1-15F3-4EC1-B1C2-968156C02523}" sibTransId="{072FBC2C-65D6-4205-B7E4-32D67F0564A9}"/>
    <dgm:cxn modelId="{B6B3965E-7FCC-4EAE-A8B7-F131A8D7CB01}" type="presOf" srcId="{34ED9E45-6918-4396-913B-CFC76A992D71}" destId="{703C5930-F633-4D43-8972-9F523F9E3320}" srcOrd="0" destOrd="0" presId="urn:microsoft.com/office/officeart/2005/8/layout/vList2"/>
    <dgm:cxn modelId="{8FDE3562-8C0C-47A5-8FE9-3E2C15E502D0}" srcId="{0F663684-D70D-4374-8282-49D8AFCDF7CB}" destId="{CEF7BA4E-CC69-47A5-AD2D-9E77FD2E34B3}" srcOrd="3" destOrd="0" parTransId="{B55F61A5-B00A-46F7-AB3F-3131BBD65C13}" sibTransId="{CDDD8B8F-A1B8-4928-8FB4-42A9F786A4EF}"/>
    <dgm:cxn modelId="{9AA11963-5C7E-43CE-8D98-29E976241D70}" type="presOf" srcId="{CEF7BA4E-CC69-47A5-AD2D-9E77FD2E34B3}" destId="{FB8B7F32-CA0C-4B13-AE63-6130975D9317}" srcOrd="0" destOrd="3" presId="urn:microsoft.com/office/officeart/2005/8/layout/vList2"/>
    <dgm:cxn modelId="{7CBC4168-48CA-4606-8192-48B753250656}" type="presOf" srcId="{E09C86C0-3291-49CB-8B59-26CA60E16283}" destId="{FB8B7F32-CA0C-4B13-AE63-6130975D9317}" srcOrd="0" destOrd="4" presId="urn:microsoft.com/office/officeart/2005/8/layout/vList2"/>
    <dgm:cxn modelId="{1C189473-1166-4E1F-B26E-47E7721CEEA3}" srcId="{0F663684-D70D-4374-8282-49D8AFCDF7CB}" destId="{ED72CECF-533E-4F00-971F-9380449C64C5}" srcOrd="1" destOrd="0" parTransId="{9EAB27B2-D811-46CB-ACA3-86B1EE9D2EA7}" sibTransId="{457F9FBE-2027-441E-A72D-516AA853F72F}"/>
    <dgm:cxn modelId="{ED220454-7062-43FA-84C0-4F6DD7E61407}" srcId="{0F663684-D70D-4374-8282-49D8AFCDF7CB}" destId="{E09C86C0-3291-49CB-8B59-26CA60E16283}" srcOrd="4" destOrd="0" parTransId="{A2725B2D-D302-4CD4-A0B7-FC5A00DCA90A}" sibTransId="{F5142C59-7A93-4BFC-A6E6-C6C14BE9E98A}"/>
    <dgm:cxn modelId="{E0343355-4ACF-4AE1-9182-0C165CE1F1DF}" type="presOf" srcId="{8162E93C-7A12-444F-BF04-18C9A1604134}" destId="{FB8B7F32-CA0C-4B13-AE63-6130975D9317}" srcOrd="0" destOrd="0" presId="urn:microsoft.com/office/officeart/2005/8/layout/vList2"/>
    <dgm:cxn modelId="{6A6D8078-3BE2-44DB-8873-FEC7CE923051}" srcId="{C83236CC-1FC8-49EE-9D16-AACA210C4E2A}" destId="{0F663684-D70D-4374-8282-49D8AFCDF7CB}" srcOrd="1" destOrd="0" parTransId="{CEF0A598-4339-4755-A674-41DB374804F1}" sibTransId="{13876A35-2CFD-47DF-A518-32AF21168B25}"/>
    <dgm:cxn modelId="{A34779A9-1FB4-433C-9F38-E18883A7EED1}" type="presOf" srcId="{ABDE73BC-EB65-4085-B711-7F87FAC92D72}" destId="{FB8B7F32-CA0C-4B13-AE63-6130975D9317}" srcOrd="0" destOrd="2" presId="urn:microsoft.com/office/officeart/2005/8/layout/vList2"/>
    <dgm:cxn modelId="{BB5AE4B8-8119-42EC-A0DB-CB7940D74AC0}" srcId="{0F663684-D70D-4374-8282-49D8AFCDF7CB}" destId="{8162E93C-7A12-444F-BF04-18C9A1604134}" srcOrd="0" destOrd="0" parTransId="{A323014C-C05D-4998-BD37-86E4FCC4A03C}" sibTransId="{15CF7C23-8809-4901-9FBD-CDF2FABFE075}"/>
    <dgm:cxn modelId="{8E06B3EB-1962-484A-B07E-92E5120A9137}" type="presOf" srcId="{0F663684-D70D-4374-8282-49D8AFCDF7CB}" destId="{D787F2ED-3D6A-40A3-81FF-A49AF979F937}" srcOrd="0" destOrd="0" presId="urn:microsoft.com/office/officeart/2005/8/layout/vList2"/>
    <dgm:cxn modelId="{FD6D002A-B7A1-4EFE-8A68-7AD03D7D2BD8}" type="presParOf" srcId="{BD91D0B9-1786-4A83-8927-D9FAAD4C5785}" destId="{703C5930-F633-4D43-8972-9F523F9E3320}" srcOrd="0" destOrd="0" presId="urn:microsoft.com/office/officeart/2005/8/layout/vList2"/>
    <dgm:cxn modelId="{9357BBD8-6A3C-4652-951E-82F35DAE3E8C}" type="presParOf" srcId="{BD91D0B9-1786-4A83-8927-D9FAAD4C5785}" destId="{AD764C18-74E2-47A2-8AD4-843FA8545700}" srcOrd="1" destOrd="0" presId="urn:microsoft.com/office/officeart/2005/8/layout/vList2"/>
    <dgm:cxn modelId="{2EC4646C-72E0-40A8-B6E3-767C6B638BD0}" type="presParOf" srcId="{BD91D0B9-1786-4A83-8927-D9FAAD4C5785}" destId="{D787F2ED-3D6A-40A3-81FF-A49AF979F937}" srcOrd="2" destOrd="0" presId="urn:microsoft.com/office/officeart/2005/8/layout/vList2"/>
    <dgm:cxn modelId="{2EC1EEE0-713B-4202-954C-56746FC5878A}" type="presParOf" srcId="{BD91D0B9-1786-4A83-8927-D9FAAD4C5785}" destId="{FB8B7F32-CA0C-4B13-AE63-6130975D931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920B50-07A9-400E-A2E5-4C2872AA34F8}">
      <dsp:nvSpPr>
        <dsp:cNvPr id="0" name=""/>
        <dsp:cNvSpPr/>
      </dsp:nvSpPr>
      <dsp:spPr>
        <a:xfrm>
          <a:off x="0" y="61416"/>
          <a:ext cx="4837113" cy="973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i="0" kern="1200" dirty="0"/>
            <a:t>Explain diffusion models from the perspective of use in architectural image synthesis.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600" kern="1200" dirty="0"/>
        </a:p>
      </dsp:txBody>
      <dsp:txXfrm>
        <a:off x="47519" y="108935"/>
        <a:ext cx="4742075" cy="878402"/>
      </dsp:txXfrm>
    </dsp:sp>
    <dsp:sp modelId="{57DFEE1C-23F5-453C-9D30-FF2185F00024}">
      <dsp:nvSpPr>
        <dsp:cNvPr id="0" name=""/>
        <dsp:cNvSpPr/>
      </dsp:nvSpPr>
      <dsp:spPr>
        <a:xfrm>
          <a:off x="0" y="1080936"/>
          <a:ext cx="4837113" cy="973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Generate floor plans from text prompts using diffusers</a:t>
          </a:r>
        </a:p>
      </dsp:txBody>
      <dsp:txXfrm>
        <a:off x="47519" y="1128455"/>
        <a:ext cx="4742075" cy="878402"/>
      </dsp:txXfrm>
    </dsp:sp>
    <dsp:sp modelId="{5FE9E93B-24FC-4E54-848C-A89AB8A25A92}">
      <dsp:nvSpPr>
        <dsp:cNvPr id="0" name=""/>
        <dsp:cNvSpPr/>
      </dsp:nvSpPr>
      <dsp:spPr>
        <a:xfrm>
          <a:off x="0" y="2100456"/>
          <a:ext cx="4837113" cy="973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i="0" kern="1200" dirty="0"/>
            <a:t>Look at how different models and schedulers perform.</a:t>
          </a:r>
        </a:p>
      </dsp:txBody>
      <dsp:txXfrm>
        <a:off x="47519" y="2147975"/>
        <a:ext cx="4742075" cy="8784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3C5930-F633-4D43-8972-9F523F9E3320}">
      <dsp:nvSpPr>
        <dsp:cNvPr id="0" name=""/>
        <dsp:cNvSpPr/>
      </dsp:nvSpPr>
      <dsp:spPr>
        <a:xfrm>
          <a:off x="0" y="46774"/>
          <a:ext cx="10447440" cy="1374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 latent diffusion model that generates high-quality images from text prompts using VAE, </a:t>
          </a:r>
          <a:r>
            <a:rPr lang="en-US" sz="2500" kern="1200" dirty="0" err="1"/>
            <a:t>UNet</a:t>
          </a:r>
          <a:r>
            <a:rPr lang="en-US" sz="2500" kern="1200" dirty="0"/>
            <a:t>, and CLIP in a compressed latent space—making it efficient and resource-friendly.</a:t>
          </a:r>
        </a:p>
      </dsp:txBody>
      <dsp:txXfrm>
        <a:off x="67110" y="113884"/>
        <a:ext cx="10313220" cy="1240530"/>
      </dsp:txXfrm>
    </dsp:sp>
    <dsp:sp modelId="{D787F2ED-3D6A-40A3-81FF-A49AF979F937}">
      <dsp:nvSpPr>
        <dsp:cNvPr id="0" name=""/>
        <dsp:cNvSpPr/>
      </dsp:nvSpPr>
      <dsp:spPr>
        <a:xfrm>
          <a:off x="0" y="1493524"/>
          <a:ext cx="10447440" cy="1374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Using </a:t>
          </a:r>
          <a:r>
            <a:rPr lang="en-US" sz="2500" b="1" kern="1200" dirty="0"/>
            <a:t>pre-trained pipeline</a:t>
          </a:r>
          <a:r>
            <a:rPr lang="en-US" sz="2500" kern="1200" dirty="0"/>
            <a:t> from Hugging Face's diffusers library.</a:t>
          </a:r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Model is run multiple times using prompts for:</a:t>
          </a:r>
        </a:p>
      </dsp:txBody>
      <dsp:txXfrm>
        <a:off x="67110" y="1560634"/>
        <a:ext cx="10313220" cy="1240530"/>
      </dsp:txXfrm>
    </dsp:sp>
    <dsp:sp modelId="{FB8B7F32-CA0C-4B13-AE63-6130975D9317}">
      <dsp:nvSpPr>
        <dsp:cNvPr id="0" name=""/>
        <dsp:cNvSpPr/>
      </dsp:nvSpPr>
      <dsp:spPr>
        <a:xfrm>
          <a:off x="0" y="2868274"/>
          <a:ext cx="10447440" cy="1707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1706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A 2 Bedroom-Hall-Kitchen (2BHK) apartment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A 3 Bedroom-Hall-Kitchen (3BHK) apartment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A Studio apartment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A Fitness center layout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Fixed Seed=42 for consistent reproducibility</a:t>
          </a:r>
        </a:p>
      </dsp:txBody>
      <dsp:txXfrm>
        <a:off x="0" y="2868274"/>
        <a:ext cx="10447440" cy="17077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23A35-1FA6-84F9-C9C9-8EFD760A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CDB01-A300-500A-E9FF-5021D5B2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90371-6E13-9BA6-3274-E7DFC0AA8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D689E-823E-FB48-22C9-BEE63C553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94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501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39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3AE7E-EA95-E3B9-A6AC-D64856BB6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E85FC6-8721-0F3F-C98C-1135F8E594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E25809-DA18-621A-78F4-CE41A7C6D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EB58D-4C9E-4D67-1B90-56B0093A27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8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4317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139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319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C09CB-B226-C3ED-CFE7-CE668DF92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F0C220-19E6-7815-0613-40C247E52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A98AB-43A6-D725-BDB4-0299729AF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11462-00D4-7D32-74A4-3F5010007B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636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3874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487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www.wallpaperflare.com/blueprint-floor-plan-house-hd-brown-and-red-wooden-house-miniature-wallpaper-mgheb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bstract image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2286000"/>
            <a:ext cx="10667999" cy="2286000"/>
          </a:xfrm>
        </p:spPr>
        <p:txBody>
          <a:bodyPr/>
          <a:lstStyle/>
          <a:p>
            <a:pPr algn="l"/>
            <a:r>
              <a:rPr lang="en-US" sz="3600" b="0" i="0" dirty="0">
                <a:effectLst/>
                <a:latin typeface="Roboto" panose="02000000000000000000" pitchFamily="2" charset="0"/>
              </a:rPr>
              <a:t>Generating Architectural Floor Plans with Hugging Face Diffusers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76F17-6BD4-0253-2FEA-63CE4F999B3A}"/>
              </a:ext>
            </a:extLst>
          </p:cNvPr>
          <p:cNvSpPr txBox="1"/>
          <p:nvPr/>
        </p:nvSpPr>
        <p:spPr>
          <a:xfrm>
            <a:off x="6189134" y="4572000"/>
            <a:ext cx="54227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Submitted by: Team Alpha Neurons          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            Sonal Shreya </a:t>
            </a:r>
          </a:p>
          <a:p>
            <a:r>
              <a:rPr lang="en-US" dirty="0">
                <a:solidFill>
                  <a:schemeClr val="bg1"/>
                </a:solidFill>
              </a:rPr>
              <a:t>	          Sumit Kumar Singh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           Santhoshini </a:t>
            </a:r>
            <a:r>
              <a:rPr lang="en-US" dirty="0" err="1">
                <a:solidFill>
                  <a:schemeClr val="bg1"/>
                </a:solidFill>
              </a:rPr>
              <a:t>Bojanapally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          Sai Naga Saujanya </a:t>
            </a:r>
            <a:r>
              <a:rPr lang="en-US" dirty="0" err="1">
                <a:solidFill>
                  <a:schemeClr val="bg1"/>
                </a:solidFill>
              </a:rPr>
              <a:t>Gullapaly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         </a:t>
            </a:r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5C36-617B-795C-5A2B-325EA34F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D706-11EF-C258-EBD5-C4EEFEAA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2816" y="457200"/>
            <a:ext cx="4837176" cy="1993392"/>
          </a:xfrm>
          <a:noFill/>
        </p:spPr>
        <p:txBody>
          <a:bodyPr anchor="b">
            <a:noAutofit/>
          </a:bodyPr>
          <a:lstStyle/>
          <a:p>
            <a:r>
              <a:rPr lang="en-US" b="1" dirty="0" err="1"/>
              <a:t>OBjective</a:t>
            </a:r>
            <a:endParaRPr lang="en-US" b="1" dirty="0"/>
          </a:p>
        </p:txBody>
      </p:sp>
      <p:pic>
        <p:nvPicPr>
          <p:cNvPr id="15" name="Picture Placeholder 14" descr="Architects collaborating">
            <a:extLst>
              <a:ext uri="{FF2B5EF4-FFF2-40B4-BE49-F238E27FC236}">
                <a16:creationId xmlns:a16="http://schemas.microsoft.com/office/drawing/2014/main" id="{E4DF753A-3575-A0D9-5135-8A94308DC0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9" r="20329"/>
          <a:stretch/>
        </p:blipFill>
        <p:spPr>
          <a:xfrm>
            <a:off x="-28882" y="0"/>
            <a:ext cx="6115050" cy="6858000"/>
          </a:xfrm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4D40EDA-C5A0-C40E-6DDB-9D6F72603D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2678493"/>
              </p:ext>
            </p:extLst>
          </p:nvPr>
        </p:nvGraphicFramePr>
        <p:xfrm>
          <a:off x="6562725" y="2752725"/>
          <a:ext cx="4837113" cy="3135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7201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kern="1200" cap="all" spc="300" baseline="0"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F863AA-86FE-D5D3-0CBF-EF8A9302BA54}"/>
              </a:ext>
            </a:extLst>
          </p:cNvPr>
          <p:cNvSpPr txBox="1"/>
          <p:nvPr/>
        </p:nvSpPr>
        <p:spPr>
          <a:xfrm>
            <a:off x="838200" y="1790329"/>
            <a:ext cx="5134335" cy="41130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/>
              <a:t>W</a:t>
            </a:r>
            <a:r>
              <a:rPr lang="en-US" b="0" i="0">
                <a:effectLst/>
              </a:rPr>
              <a:t>e plan  utilize text-to-image generative models within the context of architectural design. </a:t>
            </a:r>
          </a:p>
          <a:p>
            <a:pPr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</a:pPr>
            <a:endParaRPr lang="en-US" b="0" i="0">
              <a:effectLst/>
            </a:endParaRPr>
          </a:p>
          <a:p>
            <a:pPr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b="0" i="0">
                <a:effectLst/>
              </a:rPr>
              <a:t>In particular, we compare several diffusion models used to generate floor plans of different residential and community areas like 2BHK, 3BHK apartments and studio configurations and fitness center.</a:t>
            </a:r>
          </a:p>
          <a:p>
            <a:pPr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</a:pPr>
            <a:endParaRPr lang="en-US"/>
          </a:p>
          <a:p>
            <a:pPr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b="0" i="0">
                <a:effectLst/>
              </a:rPr>
              <a:t> These generative pipelines blocks can be run and analyzed using the powerful Hugging Face diffusers library.</a:t>
            </a:r>
            <a:endParaRPr lang="en-US"/>
          </a:p>
        </p:txBody>
      </p:sp>
      <p:pic>
        <p:nvPicPr>
          <p:cNvPr id="91" name="Picture Placeholder 90">
            <a:extLst>
              <a:ext uri="{FF2B5EF4-FFF2-40B4-BE49-F238E27FC236}">
                <a16:creationId xmlns:a16="http://schemas.microsoft.com/office/drawing/2014/main" id="{BC622EA4-CCB7-907A-0126-D0A68A5DC780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/>
        </p:blipFill>
        <p:spPr>
          <a:xfrm flipH="1">
            <a:off x="6219464" y="1992077"/>
            <a:ext cx="5134335" cy="3709557"/>
          </a:xfrm>
          <a:noFill/>
        </p:spPr>
      </p:pic>
    </p:spTree>
    <p:extLst>
      <p:ext uri="{BB962C8B-B14F-4D97-AF65-F5344CB8AC3E}">
        <p14:creationId xmlns:p14="http://schemas.microsoft.com/office/powerpoint/2010/main" val="3930438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fr-FR" dirty="0" err="1"/>
              <a:t>Conceptual</a:t>
            </a:r>
            <a:r>
              <a:rPr lang="fr-FR" dirty="0"/>
              <a:t> </a:t>
            </a:r>
            <a:r>
              <a:rPr lang="fr-FR" dirty="0" err="1"/>
              <a:t>Differences</a:t>
            </a:r>
            <a:r>
              <a:rPr lang="fr-FR" dirty="0"/>
              <a:t>: </a:t>
            </a:r>
            <a:r>
              <a:rPr lang="fr-FR" dirty="0" err="1"/>
              <a:t>GANs</a:t>
            </a:r>
            <a:r>
              <a:rPr lang="fr-FR" dirty="0"/>
              <a:t> vs Diffusion </a:t>
            </a:r>
            <a:r>
              <a:rPr lang="fr-FR" dirty="0" err="1"/>
              <a:t>Models</a:t>
            </a:r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02A0290-BEFC-351D-EC08-0872C3306B20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574273474"/>
              </p:ext>
            </p:extLst>
          </p:nvPr>
        </p:nvGraphicFramePr>
        <p:xfrm>
          <a:off x="474232" y="1981200"/>
          <a:ext cx="11243536" cy="41633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0629">
                  <a:extLst>
                    <a:ext uri="{9D8B030D-6E8A-4147-A177-3AD203B41FA5}">
                      <a16:colId xmlns:a16="http://schemas.microsoft.com/office/drawing/2014/main" val="2656526262"/>
                    </a:ext>
                  </a:extLst>
                </a:gridCol>
                <a:gridCol w="3795114">
                  <a:extLst>
                    <a:ext uri="{9D8B030D-6E8A-4147-A177-3AD203B41FA5}">
                      <a16:colId xmlns:a16="http://schemas.microsoft.com/office/drawing/2014/main" val="3171819766"/>
                    </a:ext>
                  </a:extLst>
                </a:gridCol>
                <a:gridCol w="3797793">
                  <a:extLst>
                    <a:ext uri="{9D8B030D-6E8A-4147-A177-3AD203B41FA5}">
                      <a16:colId xmlns:a16="http://schemas.microsoft.com/office/drawing/2014/main" val="378001867"/>
                    </a:ext>
                  </a:extLst>
                </a:gridCol>
              </a:tblGrid>
              <a:tr h="420921">
                <a:tc>
                  <a:txBody>
                    <a:bodyPr/>
                    <a:lstStyle/>
                    <a:p>
                      <a:r>
                        <a:rPr lang="en-US" sz="1400"/>
                        <a:t>Aspect</a:t>
                      </a:r>
                    </a:p>
                  </a:txBody>
                  <a:tcPr marL="67467" marR="67467" marT="33733" marB="33733" anchor="ctr"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GANs</a:t>
                      </a:r>
                      <a:endParaRPr lang="en-US" sz="1400"/>
                    </a:p>
                  </a:txBody>
                  <a:tcPr marL="67467" marR="67467" marT="33733" marB="33733" anchor="ctr"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Diffusion Models</a:t>
                      </a:r>
                      <a:endParaRPr lang="en-US" sz="1400"/>
                    </a:p>
                  </a:txBody>
                  <a:tcPr marL="67467" marR="67467" marT="33733" marB="33733" anchor="ctr"/>
                </a:tc>
                <a:extLst>
                  <a:ext uri="{0D108BD9-81ED-4DB2-BD59-A6C34878D82A}">
                    <a16:rowId xmlns:a16="http://schemas.microsoft.com/office/drawing/2014/main" val="2964541639"/>
                  </a:ext>
                </a:extLst>
              </a:tr>
              <a:tr h="966875">
                <a:tc>
                  <a:txBody>
                    <a:bodyPr/>
                    <a:lstStyle/>
                    <a:p>
                      <a:r>
                        <a:rPr lang="en-US" sz="1400" b="1"/>
                        <a:t>Core Idea</a:t>
                      </a:r>
                      <a:endParaRPr lang="en-US" sz="1400"/>
                    </a:p>
                  </a:txBody>
                  <a:tcPr marL="67467" marR="67467" marT="33733" marB="33733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 </a:t>
                      </a:r>
                      <a:r>
                        <a:rPr lang="en-US" sz="1400" b="1"/>
                        <a:t>generator</a:t>
                      </a:r>
                      <a:r>
                        <a:rPr lang="en-US" sz="1400"/>
                        <a:t> creates images, and a </a:t>
                      </a:r>
                      <a:r>
                        <a:rPr lang="en-US" sz="1400" b="1"/>
                        <a:t>discriminator</a:t>
                      </a:r>
                      <a:r>
                        <a:rPr lang="en-US" sz="1400"/>
                        <a:t> tries to tell if they're real or fake (adversarial training).</a:t>
                      </a:r>
                    </a:p>
                  </a:txBody>
                  <a:tcPr marL="67467" marR="67467" marT="33733" marB="33733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 model learns to </a:t>
                      </a:r>
                      <a:r>
                        <a:rPr lang="en-US" sz="1400" b="1"/>
                        <a:t>denoise</a:t>
                      </a:r>
                      <a:r>
                        <a:rPr lang="en-US" sz="1400"/>
                        <a:t> data by reversing a noise-adding process over many steps (generative denoising).</a:t>
                      </a:r>
                    </a:p>
                  </a:txBody>
                  <a:tcPr marL="67467" marR="67467" marT="33733" marB="33733" anchor="ctr"/>
                </a:tc>
                <a:extLst>
                  <a:ext uri="{0D108BD9-81ED-4DB2-BD59-A6C34878D82A}">
                    <a16:rowId xmlns:a16="http://schemas.microsoft.com/office/drawing/2014/main" val="337945081"/>
                  </a:ext>
                </a:extLst>
              </a:tr>
              <a:tr h="693898">
                <a:tc>
                  <a:txBody>
                    <a:bodyPr/>
                    <a:lstStyle/>
                    <a:p>
                      <a:r>
                        <a:rPr lang="en-US" sz="1400" b="1"/>
                        <a:t>Training Paradigm</a:t>
                      </a:r>
                      <a:endParaRPr lang="en-US" sz="1400"/>
                    </a:p>
                  </a:txBody>
                  <a:tcPr marL="67467" marR="67467" marT="33733" marB="33733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Adversarial training</a:t>
                      </a:r>
                      <a:r>
                        <a:rPr lang="en-US" sz="1400" dirty="0"/>
                        <a:t> between two networks (G &amp; D).</a:t>
                      </a:r>
                    </a:p>
                  </a:txBody>
                  <a:tcPr marL="67467" marR="67467" marT="33733" marB="33733" anchor="ctr"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Likelihood-based training</a:t>
                      </a:r>
                      <a:r>
                        <a:rPr lang="en-US" sz="1400"/>
                        <a:t> (score matching or variational inference).</a:t>
                      </a:r>
                    </a:p>
                  </a:txBody>
                  <a:tcPr marL="67467" marR="67467" marT="33733" marB="33733" anchor="ctr"/>
                </a:tc>
                <a:extLst>
                  <a:ext uri="{0D108BD9-81ED-4DB2-BD59-A6C34878D82A}">
                    <a16:rowId xmlns:a16="http://schemas.microsoft.com/office/drawing/2014/main" val="1678722848"/>
                  </a:ext>
                </a:extLst>
              </a:tr>
              <a:tr h="693898">
                <a:tc>
                  <a:txBody>
                    <a:bodyPr/>
                    <a:lstStyle/>
                    <a:p>
                      <a:r>
                        <a:rPr lang="en-US" sz="1400" b="1"/>
                        <a:t>Generation Process</a:t>
                      </a:r>
                      <a:endParaRPr lang="en-US" sz="1400"/>
                    </a:p>
                  </a:txBody>
                  <a:tcPr marL="67467" marR="67467" marT="33733" marB="33733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Single-step forward pass from noise to image.</a:t>
                      </a:r>
                    </a:p>
                  </a:txBody>
                  <a:tcPr marL="67467" marR="67467" marT="33733" marB="33733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Multi-step process from pure noise to image via </a:t>
                      </a:r>
                      <a:r>
                        <a:rPr lang="en-US" sz="1400" b="1"/>
                        <a:t>iterative denoising</a:t>
                      </a:r>
                      <a:r>
                        <a:rPr lang="en-US" sz="1400"/>
                        <a:t>.</a:t>
                      </a:r>
                    </a:p>
                  </a:txBody>
                  <a:tcPr marL="67467" marR="67467" marT="33733" marB="33733" anchor="ctr"/>
                </a:tc>
                <a:extLst>
                  <a:ext uri="{0D108BD9-81ED-4DB2-BD59-A6C34878D82A}">
                    <a16:rowId xmlns:a16="http://schemas.microsoft.com/office/drawing/2014/main" val="1225209934"/>
                  </a:ext>
                </a:extLst>
              </a:tr>
              <a:tr h="693898">
                <a:tc>
                  <a:txBody>
                    <a:bodyPr/>
                    <a:lstStyle/>
                    <a:p>
                      <a:r>
                        <a:rPr lang="en-US" sz="1400" b="1"/>
                        <a:t>Output Control</a:t>
                      </a:r>
                      <a:endParaRPr lang="en-US" sz="1400"/>
                    </a:p>
                  </a:txBody>
                  <a:tcPr marL="67467" marR="67467" marT="33733" marB="33733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Difficult to guide precisely unless with special techniques (e.g., conditional GANs).</a:t>
                      </a:r>
                    </a:p>
                  </a:txBody>
                  <a:tcPr marL="67467" marR="67467" marT="33733" marB="33733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Highly </a:t>
                      </a:r>
                      <a:r>
                        <a:rPr lang="en-US" sz="1400" b="1"/>
                        <a:t>controllable</a:t>
                      </a:r>
                      <a:r>
                        <a:rPr lang="en-US" sz="1400"/>
                        <a:t> via conditioning (e.g., text prompts, masks, edge maps).</a:t>
                      </a:r>
                    </a:p>
                  </a:txBody>
                  <a:tcPr marL="67467" marR="67467" marT="33733" marB="33733" anchor="ctr"/>
                </a:tc>
                <a:extLst>
                  <a:ext uri="{0D108BD9-81ED-4DB2-BD59-A6C34878D82A}">
                    <a16:rowId xmlns:a16="http://schemas.microsoft.com/office/drawing/2014/main" val="2359634454"/>
                  </a:ext>
                </a:extLst>
              </a:tr>
              <a:tr h="693898">
                <a:tc>
                  <a:txBody>
                    <a:bodyPr/>
                    <a:lstStyle/>
                    <a:p>
                      <a:r>
                        <a:rPr lang="en-US" sz="1400" b="1"/>
                        <a:t>Theoretical Foundation</a:t>
                      </a:r>
                      <a:endParaRPr lang="en-US" sz="1400"/>
                    </a:p>
                  </a:txBody>
                  <a:tcPr marL="67467" marR="67467" marT="33733" marB="33733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Less grounded in probability theory.</a:t>
                      </a:r>
                    </a:p>
                  </a:txBody>
                  <a:tcPr marL="67467" marR="67467" marT="33733" marB="33733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 foundation in diffusion/stochastic processes and probabilistic modeling.</a:t>
                      </a:r>
                    </a:p>
                  </a:txBody>
                  <a:tcPr marL="67467" marR="67467" marT="33733" marB="33733" anchor="ctr"/>
                </a:tc>
                <a:extLst>
                  <a:ext uri="{0D108BD9-81ED-4DB2-BD59-A6C34878D82A}">
                    <a16:rowId xmlns:a16="http://schemas.microsoft.com/office/drawing/2014/main" val="2734879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46E3C-3DA1-9D70-2548-DEF26D534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F0F0F-8B89-AAC9-FDA4-38D9782F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161" y="173291"/>
            <a:ext cx="10526916" cy="1096709"/>
          </a:xfrm>
          <a:noFill/>
        </p:spPr>
        <p:txBody>
          <a:bodyPr anchor="ctr"/>
          <a:lstStyle/>
          <a:p>
            <a:r>
              <a:rPr lang="fr-FR" dirty="0"/>
              <a:t>Base Model </a:t>
            </a:r>
            <a:r>
              <a:rPr lang="fr-FR" dirty="0" err="1"/>
              <a:t>Analysis</a:t>
            </a:r>
            <a:r>
              <a:rPr lang="fr-FR" dirty="0"/>
              <a:t>: Stable Diffusion v1.5</a:t>
            </a:r>
            <a:r>
              <a:rPr lang="en-US" dirty="0"/>
              <a:t>)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FDC642A-A0AF-1823-DAD9-C16EB033D3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4111579"/>
              </p:ext>
            </p:extLst>
          </p:nvPr>
        </p:nvGraphicFramePr>
        <p:xfrm>
          <a:off x="914400" y="1168400"/>
          <a:ext cx="10447440" cy="462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17008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723FCF88-B864-EB11-ADB4-BCA1DB92A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Layout Generated by the model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C4A37B-91AB-36DF-F260-3B0BFBCCAB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304" b="10393"/>
          <a:stretch/>
        </p:blipFill>
        <p:spPr>
          <a:xfrm>
            <a:off x="838200" y="1790329"/>
            <a:ext cx="5134335" cy="4113054"/>
          </a:xfrm>
          <a:prstGeom prst="rect">
            <a:avLst/>
          </a:prstGeom>
          <a:noFill/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BED9748-B774-3031-3EAF-B060BEDD49FE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4"/>
          <a:srcRect t="12630" b="9264"/>
          <a:stretch/>
        </p:blipFill>
        <p:spPr>
          <a:xfrm>
            <a:off x="6219464" y="1790329"/>
            <a:ext cx="5134335" cy="4113054"/>
          </a:xfrm>
          <a:noFill/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0E271F2-DF8D-C2D2-B734-1C12A809B171}"/>
              </a:ext>
            </a:extLst>
          </p:cNvPr>
          <p:cNvSpPr txBox="1"/>
          <p:nvPr/>
        </p:nvSpPr>
        <p:spPr>
          <a:xfrm>
            <a:off x="2164080" y="5911334"/>
            <a:ext cx="219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Bedroom layout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F62064-FFE0-DFF9-82F8-37992020B5D4}"/>
              </a:ext>
            </a:extLst>
          </p:cNvPr>
          <p:cNvSpPr txBox="1"/>
          <p:nvPr/>
        </p:nvSpPr>
        <p:spPr>
          <a:xfrm>
            <a:off x="8107680" y="5931654"/>
            <a:ext cx="219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Bedroom layout</a:t>
            </a:r>
          </a:p>
        </p:txBody>
      </p:sp>
    </p:spTree>
    <p:extLst>
      <p:ext uri="{BB962C8B-B14F-4D97-AF65-F5344CB8AC3E}">
        <p14:creationId xmlns:p14="http://schemas.microsoft.com/office/powerpoint/2010/main" val="2243159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7DE95-7519-9793-9882-FEA556255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Layout generated by the model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72A4487E-BAA9-9A81-B21E-4FE9EE2857D6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rcRect t="15368" b="6526"/>
          <a:stretch/>
        </p:blipFill>
        <p:spPr>
          <a:xfrm>
            <a:off x="838200" y="1790329"/>
            <a:ext cx="5134335" cy="4113054"/>
          </a:xfrm>
          <a:prstGeom prst="rect">
            <a:avLst/>
          </a:prstGeom>
          <a:noFill/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68B10E0B-A5F9-28A5-53BB-E5614D2F0246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/>
          <a:srcRect t="20604" r="3" b="2494"/>
          <a:stretch/>
        </p:blipFill>
        <p:spPr>
          <a:xfrm>
            <a:off x="6219464" y="1790329"/>
            <a:ext cx="5134335" cy="4113054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2BB1F0-781E-9C33-8582-517BFE36A9EA}"/>
              </a:ext>
            </a:extLst>
          </p:cNvPr>
          <p:cNvSpPr txBox="1"/>
          <p:nvPr/>
        </p:nvSpPr>
        <p:spPr>
          <a:xfrm>
            <a:off x="2164080" y="5911334"/>
            <a:ext cx="2824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Studio Apartment Layout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224B3C-44F3-1827-EC0C-819423826EAF}"/>
              </a:ext>
            </a:extLst>
          </p:cNvPr>
          <p:cNvSpPr txBox="1"/>
          <p:nvPr/>
        </p:nvSpPr>
        <p:spPr>
          <a:xfrm>
            <a:off x="7508240" y="5871117"/>
            <a:ext cx="219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Fitness Center layout</a:t>
            </a:r>
          </a:p>
        </p:txBody>
      </p:sp>
    </p:spTree>
    <p:extLst>
      <p:ext uri="{BB962C8B-B14F-4D97-AF65-F5344CB8AC3E}">
        <p14:creationId xmlns:p14="http://schemas.microsoft.com/office/powerpoint/2010/main" val="2541098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2FB225B-68DC-A8A6-BD7C-340757F4C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Results from Base Model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A566960-2BBE-9ECA-E406-06C9F94A1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323595"/>
              </p:ext>
            </p:extLst>
          </p:nvPr>
        </p:nvGraphicFramePr>
        <p:xfrm>
          <a:off x="528559" y="1368058"/>
          <a:ext cx="11155441" cy="452474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993574">
                  <a:extLst>
                    <a:ext uri="{9D8B030D-6E8A-4147-A177-3AD203B41FA5}">
                      <a16:colId xmlns:a16="http://schemas.microsoft.com/office/drawing/2014/main" val="2098489210"/>
                    </a:ext>
                  </a:extLst>
                </a:gridCol>
                <a:gridCol w="1938867">
                  <a:extLst>
                    <a:ext uri="{9D8B030D-6E8A-4147-A177-3AD203B41FA5}">
                      <a16:colId xmlns:a16="http://schemas.microsoft.com/office/drawing/2014/main" val="3617752363"/>
                    </a:ext>
                  </a:extLst>
                </a:gridCol>
                <a:gridCol w="1745879">
                  <a:extLst>
                    <a:ext uri="{9D8B030D-6E8A-4147-A177-3AD203B41FA5}">
                      <a16:colId xmlns:a16="http://schemas.microsoft.com/office/drawing/2014/main" val="3049137567"/>
                    </a:ext>
                  </a:extLst>
                </a:gridCol>
                <a:gridCol w="2203728">
                  <a:extLst>
                    <a:ext uri="{9D8B030D-6E8A-4147-A177-3AD203B41FA5}">
                      <a16:colId xmlns:a16="http://schemas.microsoft.com/office/drawing/2014/main" val="182820165"/>
                    </a:ext>
                  </a:extLst>
                </a:gridCol>
                <a:gridCol w="2273393">
                  <a:extLst>
                    <a:ext uri="{9D8B030D-6E8A-4147-A177-3AD203B41FA5}">
                      <a16:colId xmlns:a16="http://schemas.microsoft.com/office/drawing/2014/main" val="3414724963"/>
                    </a:ext>
                  </a:extLst>
                </a:gridCol>
              </a:tblGrid>
              <a:tr h="512382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Prompt</a:t>
                      </a:r>
                      <a:endParaRPr lang="en-US" sz="13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16187" marR="112417" marT="112417" marB="112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Image Quality</a:t>
                      </a:r>
                      <a:endParaRPr lang="en-US" sz="13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16187" marR="112417" marT="112417" marB="112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Prompt Adherence</a:t>
                      </a:r>
                      <a:endParaRPr lang="en-US" sz="13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16187" marR="112417" marT="112417" marB="112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Stylistic Note</a:t>
                      </a:r>
                      <a:endParaRPr lang="en-US" sz="13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16187" marR="112417" marT="112417" marB="112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Result Summary</a:t>
                      </a:r>
                      <a:endParaRPr lang="en-US" sz="13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16187" marR="112417" marT="112417" marB="112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731434"/>
                  </a:ext>
                </a:extLst>
              </a:tr>
              <a:tr h="960716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2BHK apartment floor plan with two bedrooms, living room, kitchen, two bathrooms and a balcony</a:t>
                      </a:r>
                      <a:endParaRPr lang="en-US" sz="13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16187" marR="112417" marT="112417" marB="112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Clean layout with clear walls and minimal textures</a:t>
                      </a:r>
                    </a:p>
                  </a:txBody>
                  <a:tcPr marL="216187" marR="112417" marT="112417" marB="112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Accurate 2BHK structure with key rooms visible</a:t>
                      </a:r>
                    </a:p>
                  </a:txBody>
                  <a:tcPr marL="216187" marR="112417" marT="112417" marB="112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Bird’s-eye schematic layout</a:t>
                      </a:r>
                    </a:p>
                  </a:txBody>
                  <a:tcPr marL="216187" marR="112417" marT="112417" marB="112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Good proportions; suitable for draft designs</a:t>
                      </a:r>
                    </a:p>
                  </a:txBody>
                  <a:tcPr marL="216187" marR="112417" marT="112417" marB="112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243739"/>
                  </a:ext>
                </a:extLst>
              </a:tr>
              <a:tr h="1130211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3BHK apartment layout with master bedroom, two guest bedrooms, three bathrooms, dining area, living room, and kitchen</a:t>
                      </a:r>
                      <a:endParaRPr lang="en-US" sz="13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16187" marR="112417" marT="112417" marB="112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High detail, realistic furnishing</a:t>
                      </a:r>
                    </a:p>
                  </a:txBody>
                  <a:tcPr marL="216187" marR="112417" marT="112417" marB="112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Strong; includes all key rooms and dining space</a:t>
                      </a:r>
                    </a:p>
                  </a:txBody>
                  <a:tcPr marL="216187" marR="112417" marT="112417" marB="112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Interior render style; virtual staging look</a:t>
                      </a:r>
                    </a:p>
                  </a:txBody>
                  <a:tcPr marL="216187" marR="112417" marT="112417" marB="112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Most realistic output; strong object placement</a:t>
                      </a:r>
                    </a:p>
                  </a:txBody>
                  <a:tcPr marL="216187" marR="112417" marT="112417" marB="112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74170"/>
                  </a:ext>
                </a:extLst>
              </a:tr>
              <a:tr h="960716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Studio apartment plan with open bedroom-living space, compact kitchen, and bathroom</a:t>
                      </a:r>
                    </a:p>
                  </a:txBody>
                  <a:tcPr marL="216187" marR="112417" marT="112417" marB="112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Bright, simple, well-lit layout</a:t>
                      </a:r>
                    </a:p>
                  </a:txBody>
                  <a:tcPr marL="216187" marR="112417" marT="112417" marB="112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Perfect match for open-plan studio layout</a:t>
                      </a:r>
                    </a:p>
                  </a:txBody>
                  <a:tcPr marL="216187" marR="112417" marT="112417" marB="112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Minimalist and clean; Airbnb-style presentation</a:t>
                      </a:r>
                    </a:p>
                  </a:txBody>
                  <a:tcPr marL="216187" marR="112417" marT="112417" marB="112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Very efficient and visually appealing layout</a:t>
                      </a:r>
                    </a:p>
                  </a:txBody>
                  <a:tcPr marL="216187" marR="112417" marT="112417" marB="112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940947"/>
                  </a:ext>
                </a:extLst>
              </a:tr>
              <a:tr h="960716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Fitness center blueprint with main hall, gym, </a:t>
                      </a:r>
                      <a:r>
                        <a:rPr lang="en-US" sz="13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zumba</a:t>
                      </a:r>
                      <a:r>
                        <a:rPr lang="en-US" sz="13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area, restrooms and lobby</a:t>
                      </a:r>
                      <a:endParaRPr lang="en-US" sz="13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16187" marR="112417" marT="112417" marB="112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Stylized with lighting effects and open spacing</a:t>
                      </a:r>
                    </a:p>
                  </a:txBody>
                  <a:tcPr marL="216187" marR="112417" marT="112417" marB="112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High adherence; clear gym, zumba, and lobby zones</a:t>
                      </a:r>
                    </a:p>
                  </a:txBody>
                  <a:tcPr marL="216187" marR="112417" marT="112417" marB="112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Interior walkthrough feel; modern presentation</a:t>
                      </a:r>
                    </a:p>
                  </a:txBody>
                  <a:tcPr marL="216187" marR="112417" marT="112417" marB="112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Visually strong; suitable for architectural use</a:t>
                      </a:r>
                    </a:p>
                  </a:txBody>
                  <a:tcPr marL="216187" marR="112417" marT="112417" marB="112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633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9936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US" b="1" dirty="0"/>
              <a:t>Comparison using Stable Diffusion Models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0227B8-A24C-8C29-034A-D7700B887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7DF36E0-4FD6-02CD-7904-54C17D03F465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1878424"/>
              </p:ext>
            </p:extLst>
          </p:nvPr>
        </p:nvGraphicFramePr>
        <p:xfrm>
          <a:off x="613186" y="2382513"/>
          <a:ext cx="10965629" cy="3370772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45098"/>
                  </a:srgbClr>
                </a:solidFill>
              </a:tblPr>
              <a:tblGrid>
                <a:gridCol w="2124659">
                  <a:extLst>
                    <a:ext uri="{9D8B030D-6E8A-4147-A177-3AD203B41FA5}">
                      <a16:colId xmlns:a16="http://schemas.microsoft.com/office/drawing/2014/main" val="1253413747"/>
                    </a:ext>
                  </a:extLst>
                </a:gridCol>
                <a:gridCol w="8840970">
                  <a:extLst>
                    <a:ext uri="{9D8B030D-6E8A-4147-A177-3AD203B41FA5}">
                      <a16:colId xmlns:a16="http://schemas.microsoft.com/office/drawing/2014/main" val="696069199"/>
                    </a:ext>
                  </a:extLst>
                </a:gridCol>
              </a:tblGrid>
              <a:tr h="661239">
                <a:tc>
                  <a:txBody>
                    <a:bodyPr/>
                    <a:lstStyle/>
                    <a:p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 marL="88590" marR="88590" marT="181454" marB="44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Highlights</a:t>
                      </a:r>
                    </a:p>
                  </a:txBody>
                  <a:tcPr marL="88590" marR="88590" marT="181454" marB="44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223108"/>
                  </a:ext>
                </a:extLst>
              </a:tr>
              <a:tr h="661239">
                <a:tc>
                  <a:txBody>
                    <a:bodyPr/>
                    <a:lstStyle/>
                    <a:p>
                      <a:r>
                        <a:rPr lang="en-US" sz="2400" b="1" cap="none" spc="0">
                          <a:solidFill>
                            <a:schemeClr val="tx1"/>
                          </a:solidFill>
                        </a:rPr>
                        <a:t>SD v1.4</a:t>
                      </a: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8590" marR="88590" marT="181454" marB="44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Rich photorealism and detailed interior rendering (CompVis).</a:t>
                      </a:r>
                    </a:p>
                  </a:txBody>
                  <a:tcPr marL="88590" marR="88590" marT="181454" marB="44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992838"/>
                  </a:ext>
                </a:extLst>
              </a:tr>
              <a:tr h="1024147">
                <a:tc>
                  <a:txBody>
                    <a:bodyPr/>
                    <a:lstStyle/>
                    <a:p>
                      <a:r>
                        <a:rPr lang="en-US" sz="2400" b="1" cap="none" spc="0">
                          <a:solidFill>
                            <a:schemeClr val="tx1"/>
                          </a:solidFill>
                        </a:rPr>
                        <a:t>SD v1.5</a:t>
                      </a: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8590" marR="88590" marT="181454" marB="44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Balanced results, improved prompt comprehension, cleaner layouts (RunwayML).</a:t>
                      </a:r>
                    </a:p>
                  </a:txBody>
                  <a:tcPr marL="88590" marR="88590" marT="181454" marB="44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422313"/>
                  </a:ext>
                </a:extLst>
              </a:tr>
              <a:tr h="1024147">
                <a:tc>
                  <a:txBody>
                    <a:bodyPr/>
                    <a:lstStyle/>
                    <a:p>
                      <a:r>
                        <a:rPr lang="en-US" sz="2400" b="1" cap="none" spc="0">
                          <a:solidFill>
                            <a:schemeClr val="tx1"/>
                          </a:solidFill>
                        </a:rPr>
                        <a:t>SD 2.1 Base</a:t>
                      </a: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8590" marR="88590" marT="181454" marB="44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High resolution, enhanced attention, better handling of complex layouts (</a:t>
                      </a:r>
                      <a:r>
                        <a:rPr lang="en-US" sz="2400" cap="none" spc="0" dirty="0" err="1">
                          <a:solidFill>
                            <a:schemeClr val="tx1"/>
                          </a:solidFill>
                        </a:rPr>
                        <a:t>StabilityAI</a:t>
                      </a:r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).</a:t>
                      </a:r>
                    </a:p>
                  </a:txBody>
                  <a:tcPr marL="88590" marR="88590" marT="181454" marB="44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9034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FAB9C73-75B9-0BC8-8930-E91B78038792}"/>
              </a:ext>
            </a:extLst>
          </p:cNvPr>
          <p:cNvSpPr txBox="1"/>
          <p:nvPr/>
        </p:nvSpPr>
        <p:spPr>
          <a:xfrm>
            <a:off x="939800" y="1606030"/>
            <a:ext cx="1074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have used the below mentioned Stable diffusion models, fed them the same prompts and same seed</a:t>
            </a:r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43F115E-7F5F-3BCC-C3CA-FBCC338FE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Evaluation for different models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146D27E-463D-C8DC-9F5F-826FC9F220C7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570157375"/>
              </p:ext>
            </p:extLst>
          </p:nvPr>
        </p:nvGraphicFramePr>
        <p:xfrm>
          <a:off x="613184" y="1761211"/>
          <a:ext cx="10965631" cy="333557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53899">
                  <a:extLst>
                    <a:ext uri="{9D8B030D-6E8A-4147-A177-3AD203B41FA5}">
                      <a16:colId xmlns:a16="http://schemas.microsoft.com/office/drawing/2014/main" val="1694765241"/>
                    </a:ext>
                  </a:extLst>
                </a:gridCol>
                <a:gridCol w="2820824">
                  <a:extLst>
                    <a:ext uri="{9D8B030D-6E8A-4147-A177-3AD203B41FA5}">
                      <a16:colId xmlns:a16="http://schemas.microsoft.com/office/drawing/2014/main" val="4091767678"/>
                    </a:ext>
                  </a:extLst>
                </a:gridCol>
                <a:gridCol w="3381254">
                  <a:extLst>
                    <a:ext uri="{9D8B030D-6E8A-4147-A177-3AD203B41FA5}">
                      <a16:colId xmlns:a16="http://schemas.microsoft.com/office/drawing/2014/main" val="3443566610"/>
                    </a:ext>
                  </a:extLst>
                </a:gridCol>
                <a:gridCol w="2809654">
                  <a:extLst>
                    <a:ext uri="{9D8B030D-6E8A-4147-A177-3AD203B41FA5}">
                      <a16:colId xmlns:a16="http://schemas.microsoft.com/office/drawing/2014/main" val="285410045"/>
                    </a:ext>
                  </a:extLst>
                </a:gridCol>
              </a:tblGrid>
              <a:tr h="49371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Prompt</a:t>
                      </a:r>
                      <a:endParaRPr lang="en-US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4667" marR="116800" marT="116800" marB="116800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Best Visual Quality</a:t>
                      </a:r>
                      <a:endParaRPr lang="en-US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4667" marR="116800" marT="116800" marB="116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Best Layout Accuracy</a:t>
                      </a:r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4667" marR="116800" marT="116800" marB="116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Best Balanced Output</a:t>
                      </a:r>
                      <a:endParaRPr lang="en-US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4667" marR="116800" marT="116800" marB="116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662182"/>
                  </a:ext>
                </a:extLst>
              </a:tr>
              <a:tr h="710467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2BHK Apartment</a:t>
                      </a:r>
                      <a:endParaRPr lang="en-US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4667" marR="116800" marT="116800" marB="116800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SD v1.4 – photorealistic, warm-toned</a:t>
                      </a:r>
                    </a:p>
                  </a:txBody>
                  <a:tcPr marL="194667" marR="116800" marT="116800" marB="116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SD 2.1 – top-down, precise divisions</a:t>
                      </a:r>
                    </a:p>
                  </a:txBody>
                  <a:tcPr marL="194667" marR="116800" marT="116800" marB="116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SD v1.5 – clean and practical</a:t>
                      </a:r>
                    </a:p>
                  </a:txBody>
                  <a:tcPr marL="194667" marR="116800" marT="116800" marB="116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855755"/>
                  </a:ext>
                </a:extLst>
              </a:tr>
              <a:tr h="710467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3BHK Apartment</a:t>
                      </a:r>
                      <a:endParaRPr lang="en-US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4667" marR="116800" marT="116800" marB="116800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SD v1.4 – detailed, furnished interiors</a:t>
                      </a:r>
                    </a:p>
                  </a:txBody>
                  <a:tcPr marL="194667" marR="116800" marT="116800" marB="116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SD 2.1 – spatially structured layout</a:t>
                      </a:r>
                    </a:p>
                  </a:txBody>
                  <a:tcPr marL="194667" marR="116800" marT="116800" marB="116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SD v1.5 – clear zones, minimal style</a:t>
                      </a:r>
                    </a:p>
                  </a:txBody>
                  <a:tcPr marL="194667" marR="116800" marT="116800" marB="116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670399"/>
                  </a:ext>
                </a:extLst>
              </a:tr>
              <a:tr h="710467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Studio Apartment</a:t>
                      </a:r>
                      <a:endParaRPr lang="en-US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4667" marR="116800" marT="116800" marB="116800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SD v1.4 – open, modern lighting</a:t>
                      </a:r>
                    </a:p>
                  </a:txBody>
                  <a:tcPr marL="194667" marR="116800" marT="116800" marB="116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SD 2.1 – compact and efficient use of space</a:t>
                      </a:r>
                    </a:p>
                  </a:txBody>
                  <a:tcPr marL="194667" marR="116800" marT="116800" marB="116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SD v1.5 – simple and functional</a:t>
                      </a:r>
                    </a:p>
                  </a:txBody>
                  <a:tcPr marL="194667" marR="116800" marT="116800" marB="116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077864"/>
                  </a:ext>
                </a:extLst>
              </a:tr>
              <a:tr h="710467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Fitness Center</a:t>
                      </a:r>
                      <a:endParaRPr lang="en-US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4667" marR="116800" marT="116800" marB="116800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SD v1.4 – realistic gym setup</a:t>
                      </a:r>
                    </a:p>
                  </a:txBody>
                  <a:tcPr marL="194667" marR="116800" marT="116800" marB="116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SD 2.1 – blueprint-style zoning</a:t>
                      </a:r>
                    </a:p>
                  </a:txBody>
                  <a:tcPr marL="194667" marR="116800" marT="116800" marB="116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SD v1.5 – interprets zones with style</a:t>
                      </a:r>
                    </a:p>
                  </a:txBody>
                  <a:tcPr marL="194667" marR="116800" marT="116800" marB="116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37958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586974A-102B-19DF-9C4E-285826BF7713}"/>
              </a:ext>
            </a:extLst>
          </p:cNvPr>
          <p:cNvSpPr txBox="1"/>
          <p:nvPr/>
        </p:nvSpPr>
        <p:spPr>
          <a:xfrm>
            <a:off x="838199" y="5569635"/>
            <a:ext cx="10574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SD 2.1 Base</a:t>
            </a:r>
            <a:r>
              <a:rPr lang="en-US" dirty="0"/>
              <a:t> stands out in </a:t>
            </a:r>
            <a:r>
              <a:rPr lang="en-US" b="1" dirty="0"/>
              <a:t>architectural accuracy</a:t>
            </a:r>
            <a:r>
              <a:rPr lang="en-US" dirty="0"/>
              <a:t>, making it ideal for structured planning and spatial layouts.</a:t>
            </a:r>
          </a:p>
        </p:txBody>
      </p:sp>
    </p:spTree>
    <p:extLst>
      <p:ext uri="{BB962C8B-B14F-4D97-AF65-F5344CB8AC3E}">
        <p14:creationId xmlns:p14="http://schemas.microsoft.com/office/powerpoint/2010/main" val="1649597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5E393-8F67-4083-D374-64F111D18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E16037-8C78-64A8-8BE3-A55335F7E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" y="101600"/>
            <a:ext cx="11998960" cy="6756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74134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Comparing Schedulers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E39F69-A1C6-AF25-B91E-7EEE8ED9E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C3820A1B-65E0-4BE5-CAF8-322CF26B02A7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311071430"/>
              </p:ext>
            </p:extLst>
          </p:nvPr>
        </p:nvGraphicFramePr>
        <p:xfrm>
          <a:off x="613185" y="1597247"/>
          <a:ext cx="10965630" cy="37962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9110">
                  <a:extLst>
                    <a:ext uri="{9D8B030D-6E8A-4147-A177-3AD203B41FA5}">
                      <a16:colId xmlns:a16="http://schemas.microsoft.com/office/drawing/2014/main" val="3876481871"/>
                    </a:ext>
                  </a:extLst>
                </a:gridCol>
                <a:gridCol w="3838000">
                  <a:extLst>
                    <a:ext uri="{9D8B030D-6E8A-4147-A177-3AD203B41FA5}">
                      <a16:colId xmlns:a16="http://schemas.microsoft.com/office/drawing/2014/main" val="1195296962"/>
                    </a:ext>
                  </a:extLst>
                </a:gridCol>
                <a:gridCol w="3206100">
                  <a:extLst>
                    <a:ext uri="{9D8B030D-6E8A-4147-A177-3AD203B41FA5}">
                      <a16:colId xmlns:a16="http://schemas.microsoft.com/office/drawing/2014/main" val="3434284435"/>
                    </a:ext>
                  </a:extLst>
                </a:gridCol>
                <a:gridCol w="2662420">
                  <a:extLst>
                    <a:ext uri="{9D8B030D-6E8A-4147-A177-3AD203B41FA5}">
                      <a16:colId xmlns:a16="http://schemas.microsoft.com/office/drawing/2014/main" val="2302921530"/>
                    </a:ext>
                  </a:extLst>
                </a:gridCol>
              </a:tblGrid>
              <a:tr h="564990">
                <a:tc>
                  <a:txBody>
                    <a:bodyPr/>
                    <a:lstStyle/>
                    <a:p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Scheduler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76964" marT="30785" marB="230892" anchor="ctr"/>
                </a:tc>
                <a:tc>
                  <a:txBody>
                    <a:bodyPr/>
                    <a:lstStyle/>
                    <a:p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76964" marT="30785" marB="230892" anchor="ctr"/>
                </a:tc>
                <a:tc>
                  <a:txBody>
                    <a:bodyPr/>
                    <a:lstStyle/>
                    <a:p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Strengths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76964" marT="30785" marB="230892" anchor="ctr"/>
                </a:tc>
                <a:tc>
                  <a:txBody>
                    <a:bodyPr/>
                    <a:lstStyle/>
                    <a:p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Weaknesses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76964" marT="30785" marB="230892" anchor="ctr"/>
                </a:tc>
                <a:extLst>
                  <a:ext uri="{0D108BD9-81ED-4DB2-BD59-A6C34878D82A}">
                    <a16:rowId xmlns:a16="http://schemas.microsoft.com/office/drawing/2014/main" val="3056502747"/>
                  </a:ext>
                </a:extLst>
              </a:tr>
              <a:tr h="1077075">
                <a:tc>
                  <a:txBody>
                    <a:bodyPr/>
                    <a:lstStyle/>
                    <a:p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DDIM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76964" marT="30785" marB="230892" anchor="ctr"/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Denoising Diffusion Implicit Models. A non-Markovian, faster sampling alternative.</a:t>
                      </a:r>
                    </a:p>
                  </a:txBody>
                  <a:tcPr marL="0" marR="76964" marT="30785" marB="230892" anchor="ctr"/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Smooth and consistent outputs for simple prompts.</a:t>
                      </a:r>
                    </a:p>
                  </a:txBody>
                  <a:tcPr marL="0" marR="76964" marT="30785" marB="230892" anchor="ctr"/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Struggles with complex prompts and text fidelity; prone to distortion.</a:t>
                      </a:r>
                    </a:p>
                  </a:txBody>
                  <a:tcPr marL="0" marR="76964" marT="30785" marB="230892" anchor="ctr"/>
                </a:tc>
                <a:extLst>
                  <a:ext uri="{0D108BD9-81ED-4DB2-BD59-A6C34878D82A}">
                    <a16:rowId xmlns:a16="http://schemas.microsoft.com/office/drawing/2014/main" val="387905328"/>
                  </a:ext>
                </a:extLst>
              </a:tr>
              <a:tr h="1077075">
                <a:tc>
                  <a:txBody>
                    <a:bodyPr/>
                    <a:lstStyle/>
                    <a:p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PNDM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76964" marT="30785" marB="230892" anchor="ctr"/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Pseudo Numerical Methods for Diffusion Models. A deterministic sampler derived from ODE solvers.</a:t>
                      </a:r>
                    </a:p>
                  </a:txBody>
                  <a:tcPr marL="0" marR="76964" marT="30785" marB="230892" anchor="ctr"/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Clean, well-structured outputs with high spatial accuracy. Best overall fidelity.</a:t>
                      </a:r>
                    </a:p>
                  </a:txBody>
                  <a:tcPr marL="0" marR="76964" marT="30785" marB="230892" anchor="ctr"/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Slightly slower but more reliable.</a:t>
                      </a:r>
                    </a:p>
                  </a:txBody>
                  <a:tcPr marL="0" marR="76964" marT="30785" marB="230892" anchor="ctr"/>
                </a:tc>
                <a:extLst>
                  <a:ext uri="{0D108BD9-81ED-4DB2-BD59-A6C34878D82A}">
                    <a16:rowId xmlns:a16="http://schemas.microsoft.com/office/drawing/2014/main" val="1209680388"/>
                  </a:ext>
                </a:extLst>
              </a:tr>
              <a:tr h="1077075">
                <a:tc>
                  <a:txBody>
                    <a:bodyPr/>
                    <a:lstStyle/>
                    <a:p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Euler Ancestral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76964" marT="30785" marB="230892" anchor="ctr"/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Ancestral sampler with added noise at each step to enhance diversity.</a:t>
                      </a:r>
                    </a:p>
                  </a:txBody>
                  <a:tcPr marL="0" marR="76964" marT="30785" marB="230892" anchor="ctr"/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Creative, stylized, and artistic renderings. Great for early-stage concepts.</a:t>
                      </a:r>
                    </a:p>
                  </a:txBody>
                  <a:tcPr marL="0" marR="76964" marT="30785" marB="230892" anchor="ctr"/>
                </a:tc>
                <a:tc>
                  <a:txBody>
                    <a:bodyPr/>
                    <a:lstStyle/>
                    <a:p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Less precise; not ideal for blueprint-level outputs.</a:t>
                      </a:r>
                    </a:p>
                  </a:txBody>
                  <a:tcPr marL="0" marR="76964" marT="30785" marB="230892" anchor="ctr"/>
                </a:tc>
                <a:extLst>
                  <a:ext uri="{0D108BD9-81ED-4DB2-BD59-A6C34878D82A}">
                    <a16:rowId xmlns:a16="http://schemas.microsoft.com/office/drawing/2014/main" val="5712592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DEB8AB58-BABC-9974-64CE-24012DC12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505226"/>
            <a:ext cx="10515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dirty="0"/>
              <a:t>We found that </a:t>
            </a:r>
            <a:r>
              <a:rPr lang="en-US" b="1" dirty="0"/>
              <a:t>PNDM</a:t>
            </a:r>
            <a:r>
              <a:rPr lang="en-US" dirty="0"/>
              <a:t> aligns best with our objective of generating blueprint-style architectural layouts,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offering the most structurally accurate and spatially coherent results.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05CB3E-613B-05E1-1473-F7D87E5D8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124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35D83-2C2D-F894-C0E6-521697423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Hyperparameter Tuning for Architectural Floorplans (SD 2.1 Base)</a:t>
            </a:r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E767BE7D-D847-3378-B1DC-47C0F4D294B2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138416619"/>
              </p:ext>
            </p:extLst>
          </p:nvPr>
        </p:nvGraphicFramePr>
        <p:xfrm>
          <a:off x="631713" y="1828950"/>
          <a:ext cx="10928574" cy="3200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48811">
                  <a:extLst>
                    <a:ext uri="{9D8B030D-6E8A-4147-A177-3AD203B41FA5}">
                      <a16:colId xmlns:a16="http://schemas.microsoft.com/office/drawing/2014/main" val="2799296464"/>
                    </a:ext>
                  </a:extLst>
                </a:gridCol>
                <a:gridCol w="3832590">
                  <a:extLst>
                    <a:ext uri="{9D8B030D-6E8A-4147-A177-3AD203B41FA5}">
                      <a16:colId xmlns:a16="http://schemas.microsoft.com/office/drawing/2014/main" val="3358087866"/>
                    </a:ext>
                  </a:extLst>
                </a:gridCol>
                <a:gridCol w="2947173">
                  <a:extLst>
                    <a:ext uri="{9D8B030D-6E8A-4147-A177-3AD203B41FA5}">
                      <a16:colId xmlns:a16="http://schemas.microsoft.com/office/drawing/2014/main" val="280820090"/>
                    </a:ext>
                  </a:extLst>
                </a:gridCol>
              </a:tblGrid>
              <a:tr h="427672">
                <a:tc>
                  <a:txBody>
                    <a:bodyPr/>
                    <a:lstStyle/>
                    <a:p>
                      <a:r>
                        <a:rPr lang="en-US" sz="3000"/>
                        <a:t>Parameter</a:t>
                      </a:r>
                    </a:p>
                  </a:txBody>
                  <a:tcPr marL="152300" marR="152300" marT="76150" marB="76150" anchor="ctr"/>
                </a:tc>
                <a:tc>
                  <a:txBody>
                    <a:bodyPr/>
                    <a:lstStyle/>
                    <a:p>
                      <a:r>
                        <a:rPr lang="en-US" sz="3000"/>
                        <a:t>Purpose</a:t>
                      </a:r>
                    </a:p>
                  </a:txBody>
                  <a:tcPr marL="152300" marR="152300" marT="76150" marB="76150" anchor="ctr"/>
                </a:tc>
                <a:tc>
                  <a:txBody>
                    <a:bodyPr/>
                    <a:lstStyle/>
                    <a:p>
                      <a:r>
                        <a:rPr lang="en-US" sz="3000"/>
                        <a:t>Values Tested</a:t>
                      </a:r>
                    </a:p>
                  </a:txBody>
                  <a:tcPr marL="152300" marR="152300" marT="76150" marB="76150" anchor="ctr"/>
                </a:tc>
                <a:extLst>
                  <a:ext uri="{0D108BD9-81ED-4DB2-BD59-A6C34878D82A}">
                    <a16:rowId xmlns:a16="http://schemas.microsoft.com/office/drawing/2014/main" val="364428119"/>
                  </a:ext>
                </a:extLst>
              </a:tr>
              <a:tr h="748479">
                <a:tc>
                  <a:txBody>
                    <a:bodyPr/>
                    <a:lstStyle/>
                    <a:p>
                      <a:r>
                        <a:rPr lang="en-US" sz="3000"/>
                        <a:t>num_inference_steps</a:t>
                      </a:r>
                    </a:p>
                  </a:txBody>
                  <a:tcPr marL="152300" marR="152300" marT="76150" marB="76150" anchor="ctr"/>
                </a:tc>
                <a:tc>
                  <a:txBody>
                    <a:bodyPr/>
                    <a:lstStyle/>
                    <a:p>
                      <a:r>
                        <a:rPr lang="en-US" sz="3000"/>
                        <a:t>Controls refinement and structural detail</a:t>
                      </a:r>
                    </a:p>
                  </a:txBody>
                  <a:tcPr marL="152300" marR="152300" marT="76150" marB="76150" anchor="ctr"/>
                </a:tc>
                <a:tc>
                  <a:txBody>
                    <a:bodyPr/>
                    <a:lstStyle/>
                    <a:p>
                      <a:r>
                        <a:rPr lang="en-US" sz="3000"/>
                        <a:t>20, 50, 100</a:t>
                      </a:r>
                    </a:p>
                  </a:txBody>
                  <a:tcPr marL="152300" marR="152300" marT="76150" marB="76150" anchor="ctr"/>
                </a:tc>
                <a:extLst>
                  <a:ext uri="{0D108BD9-81ED-4DB2-BD59-A6C34878D82A}">
                    <a16:rowId xmlns:a16="http://schemas.microsoft.com/office/drawing/2014/main" val="2851632585"/>
                  </a:ext>
                </a:extLst>
              </a:tr>
              <a:tr h="1069285">
                <a:tc>
                  <a:txBody>
                    <a:bodyPr/>
                    <a:lstStyle/>
                    <a:p>
                      <a:r>
                        <a:rPr lang="en-US" sz="3000"/>
                        <a:t>guidance_scale</a:t>
                      </a:r>
                    </a:p>
                  </a:txBody>
                  <a:tcPr marL="152300" marR="152300" marT="76150" marB="76150" anchor="ctr"/>
                </a:tc>
                <a:tc>
                  <a:txBody>
                    <a:bodyPr/>
                    <a:lstStyle/>
                    <a:p>
                      <a:r>
                        <a:rPr lang="en-US" sz="3000"/>
                        <a:t>Controls prompt adherence vs. creativity</a:t>
                      </a:r>
                    </a:p>
                  </a:txBody>
                  <a:tcPr marL="152300" marR="152300" marT="76150" marB="76150" anchor="ctr"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5.0, 7.5, 12.0</a:t>
                      </a:r>
                    </a:p>
                  </a:txBody>
                  <a:tcPr marL="152300" marR="152300" marT="76150" marB="76150" anchor="ctr"/>
                </a:tc>
                <a:extLst>
                  <a:ext uri="{0D108BD9-81ED-4DB2-BD59-A6C34878D82A}">
                    <a16:rowId xmlns:a16="http://schemas.microsoft.com/office/drawing/2014/main" val="326038456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DEB813E-A7D9-8DD9-8ADB-BE7C7384E5E7}"/>
              </a:ext>
            </a:extLst>
          </p:cNvPr>
          <p:cNvSpPr txBox="1"/>
          <p:nvPr/>
        </p:nvSpPr>
        <p:spPr>
          <a:xfrm>
            <a:off x="631712" y="5292546"/>
            <a:ext cx="109285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Tested Prompt: </a:t>
            </a:r>
            <a:r>
              <a:rPr lang="en-US" i="1" dirty="0"/>
              <a:t>“A top-down architectural floor plan of a 3BHK modern apartment”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501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0E0CE-FB89-5AC5-6838-2D835BE6D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KEY INSIGHTS post tuning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DC94CFF0-87E4-A9E4-8CE2-0B44AC9226DC}"/>
              </a:ext>
            </a:extLst>
          </p:cNvPr>
          <p:cNvSpPr>
            <a:spLocks noGrp="1" noChangeArrowheads="1"/>
          </p:cNvSpPr>
          <p:nvPr>
            <p:ph sz="quarter" idx="15"/>
          </p:nvPr>
        </p:nvSpPr>
        <p:spPr bwMode="auto">
          <a:xfrm>
            <a:off x="896074" y="2106591"/>
            <a:ext cx="2067045" cy="3633787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effectLst/>
              </a:rPr>
              <a:t>Thereby, we infer that using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50 inference steps </a:t>
            </a:r>
            <a:r>
              <a:rPr kumimoji="0" lang="en-US" altLang="en-US" sz="1500" i="0" u="none" strike="noStrike" cap="none" normalizeH="0" baseline="0" dirty="0">
                <a:ln>
                  <a:noFill/>
                </a:ln>
                <a:effectLst/>
              </a:rPr>
              <a:t>balances speed and layout clarity, setting the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guidance scale between 7.5–9.0 </a:t>
            </a:r>
            <a:r>
              <a:rPr kumimoji="0" lang="en-US" altLang="en-US" sz="1500" i="0" u="none" strike="noStrike" cap="none" normalizeH="0" baseline="0" dirty="0">
                <a:ln>
                  <a:noFill/>
                </a:ln>
                <a:effectLst/>
              </a:rPr>
              <a:t>ensures optimal prompt fidelity, and avoiding extreme values helps maintain structural accuracy unless stylized or rapid experimental outputs are specifically desired.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500" i="0" u="none" strike="noStrike" cap="none" normalizeH="0" baseline="0" dirty="0">
              <a:ln>
                <a:noFill/>
              </a:ln>
              <a:effectLst/>
            </a:endParaRPr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D138B2B9-9299-2D7C-787A-97DA501E2F35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099506175"/>
              </p:ext>
            </p:extLst>
          </p:nvPr>
        </p:nvGraphicFramePr>
        <p:xfrm>
          <a:off x="3473820" y="2021841"/>
          <a:ext cx="8372741" cy="4232607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{3B4B98B0-60AC-42C2-AFA5-B58CD77FA1E5}</a:tableStyleId>
              </a:tblPr>
              <a:tblGrid>
                <a:gridCol w="1882568">
                  <a:extLst>
                    <a:ext uri="{9D8B030D-6E8A-4147-A177-3AD203B41FA5}">
                      <a16:colId xmlns:a16="http://schemas.microsoft.com/office/drawing/2014/main" val="4089120401"/>
                    </a:ext>
                  </a:extLst>
                </a:gridCol>
                <a:gridCol w="1063594">
                  <a:extLst>
                    <a:ext uri="{9D8B030D-6E8A-4147-A177-3AD203B41FA5}">
                      <a16:colId xmlns:a16="http://schemas.microsoft.com/office/drawing/2014/main" val="3157313212"/>
                    </a:ext>
                  </a:extLst>
                </a:gridCol>
                <a:gridCol w="1555314">
                  <a:extLst>
                    <a:ext uri="{9D8B030D-6E8A-4147-A177-3AD203B41FA5}">
                      <a16:colId xmlns:a16="http://schemas.microsoft.com/office/drawing/2014/main" val="3678963238"/>
                    </a:ext>
                  </a:extLst>
                </a:gridCol>
                <a:gridCol w="3871265">
                  <a:extLst>
                    <a:ext uri="{9D8B030D-6E8A-4147-A177-3AD203B41FA5}">
                      <a16:colId xmlns:a16="http://schemas.microsoft.com/office/drawing/2014/main" val="1554035059"/>
                    </a:ext>
                  </a:extLst>
                </a:gridCol>
              </a:tblGrid>
              <a:tr h="1026147">
                <a:tc>
                  <a:txBody>
                    <a:bodyPr/>
                    <a:lstStyle/>
                    <a:p>
                      <a:r>
                        <a:rPr lang="en-US" sz="2000" b="1" cap="none" spc="0">
                          <a:solidFill>
                            <a:schemeClr val="tx1"/>
                          </a:solidFill>
                        </a:rPr>
                        <a:t>Use Case</a:t>
                      </a:r>
                    </a:p>
                  </a:txBody>
                  <a:tcPr marL="77582" marR="96818" marT="22166" marB="166247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cap="none" spc="0" dirty="0">
                          <a:solidFill>
                            <a:schemeClr val="tx1"/>
                          </a:solidFill>
                        </a:rPr>
                        <a:t>Steps</a:t>
                      </a:r>
                    </a:p>
                  </a:txBody>
                  <a:tcPr marL="77582" marR="96818" marT="22166" marB="166247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cap="none" spc="0">
                          <a:solidFill>
                            <a:schemeClr val="tx1"/>
                          </a:solidFill>
                        </a:rPr>
                        <a:t>Guidance Scale</a:t>
                      </a:r>
                    </a:p>
                  </a:txBody>
                  <a:tcPr marL="77582" marR="96818" marT="22166" marB="166247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cap="none" spc="0">
                          <a:solidFill>
                            <a:schemeClr val="tx1"/>
                          </a:solidFill>
                        </a:rPr>
                        <a:t>Inference</a:t>
                      </a:r>
                    </a:p>
                  </a:txBody>
                  <a:tcPr marL="77582" marR="96818" marT="22166" marB="166247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502371"/>
                  </a:ext>
                </a:extLst>
              </a:tr>
              <a:tr h="801615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 Best for Blueprint Clarity</a:t>
                      </a:r>
                    </a:p>
                  </a:txBody>
                  <a:tcPr marL="77582" marR="96818" marT="22166" marB="166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marL="77582" marR="96818" marT="22166" marB="1662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7.5</a:t>
                      </a:r>
                    </a:p>
                  </a:txBody>
                  <a:tcPr marL="77582" marR="96818" marT="22166" marB="1662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Well-balanced, clean layout; ideal for architectural use.</a:t>
                      </a:r>
                    </a:p>
                  </a:txBody>
                  <a:tcPr marL="77582" marR="96818" marT="22166" marB="1662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633521"/>
                  </a:ext>
                </a:extLst>
              </a:tr>
              <a:tr h="801615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Best for Realism &amp; Render</a:t>
                      </a:r>
                    </a:p>
                  </a:txBody>
                  <a:tcPr marL="77582" marR="96818" marT="22166" marB="166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marL="77582" marR="96818" marT="22166" marB="1662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5.0</a:t>
                      </a:r>
                    </a:p>
                  </a:txBody>
                  <a:tcPr marL="77582" marR="96818" marT="22166" marB="1662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Photorealistic and smooth, but less structured layout.</a:t>
                      </a:r>
                    </a:p>
                  </a:txBody>
                  <a:tcPr marL="77582" marR="96818" marT="22166" marB="1662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202861"/>
                  </a:ext>
                </a:extLst>
              </a:tr>
              <a:tr h="801615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Best for Label/Text Fidelity</a:t>
                      </a:r>
                    </a:p>
                  </a:txBody>
                  <a:tcPr marL="77582" marR="96818" marT="22166" marB="166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marL="77582" marR="96818" marT="22166" marB="1662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12.0</a:t>
                      </a:r>
                    </a:p>
                  </a:txBody>
                  <a:tcPr marL="77582" marR="96818" marT="22166" marB="1662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Strong prompt adherence with visible room labels and zoning.</a:t>
                      </a:r>
                    </a:p>
                  </a:txBody>
                  <a:tcPr marL="77582" marR="96818" marT="22166" marB="1662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793047"/>
                  </a:ext>
                </a:extLst>
              </a:tr>
              <a:tr h="801615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Least Structurally Effective</a:t>
                      </a:r>
                    </a:p>
                  </a:txBody>
                  <a:tcPr marL="77582" marR="96818" marT="22166" marB="166247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77582" marR="96818" marT="22166" marB="1662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7.5</a:t>
                      </a:r>
                    </a:p>
                  </a:txBody>
                  <a:tcPr marL="77582" marR="96818" marT="22166" marB="1662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Fast output, but lacks definition and room segmentation.</a:t>
                      </a:r>
                    </a:p>
                  </a:txBody>
                  <a:tcPr marL="77582" marR="96818" marT="22166" marB="1662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13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357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7ACAC-FCD3-7451-9F0F-393028EDE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425" y="466344"/>
            <a:ext cx="6241651" cy="1710354"/>
          </a:xfrm>
        </p:spPr>
        <p:txBody>
          <a:bodyPr vert="horz" lIns="91440" tIns="45720" rIns="91440" bIns="0" rtlCol="0" anchor="ctr" anchorCtr="0">
            <a:normAutofit/>
          </a:bodyPr>
          <a:lstStyle/>
          <a:p>
            <a:r>
              <a:rPr lang="en-US" kern="1200" cap="all" spc="300" baseline="0">
                <a:latin typeface="+mj-lt"/>
                <a:ea typeface="+mj-ea"/>
                <a:cs typeface="+mj-cs"/>
              </a:rPr>
              <a:t>Conclusion</a:t>
            </a:r>
          </a:p>
        </p:txBody>
      </p:sp>
      <p:pic>
        <p:nvPicPr>
          <p:cNvPr id="21" name="Picture Placeholder 20" descr="Full glass pane building">
            <a:extLst>
              <a:ext uri="{FF2B5EF4-FFF2-40B4-BE49-F238E27FC236}">
                <a16:creationId xmlns:a16="http://schemas.microsoft.com/office/drawing/2014/main" id="{AE87CE11-DBE2-AE61-FAE7-A51FE30631C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02" r="18263" b="-1"/>
          <a:stretch/>
        </p:blipFill>
        <p:spPr>
          <a:xfrm>
            <a:off x="20" y="10"/>
            <a:ext cx="4287818" cy="6857990"/>
          </a:xfrm>
          <a:noFill/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F73A77B-44C4-B754-0CF7-78EA26E5EC1A}"/>
              </a:ext>
            </a:extLst>
          </p:cNvPr>
          <p:cNvSpPr txBox="1"/>
          <p:nvPr/>
        </p:nvSpPr>
        <p:spPr>
          <a:xfrm>
            <a:off x="5242426" y="2286000"/>
            <a:ext cx="624165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fontAlgn="base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US"/>
              <a:t>This experiment demonstrates that </a:t>
            </a:r>
            <a:r>
              <a:rPr lang="en-US" b="1"/>
              <a:t>Stable Diffusion 2.1 Base</a:t>
            </a:r>
            <a:r>
              <a:rPr lang="en-US"/>
              <a:t>, paired with the </a:t>
            </a:r>
            <a:r>
              <a:rPr lang="en-US" b="1"/>
              <a:t>PNDM scheduler</a:t>
            </a:r>
            <a:r>
              <a:rPr lang="en-US"/>
              <a:t>, and tuned to </a:t>
            </a:r>
            <a:r>
              <a:rPr lang="en-US" b="1"/>
              <a:t>50 inference steps with a guidance scale of 7.5</a:t>
            </a:r>
            <a:r>
              <a:rPr lang="en-US"/>
              <a:t>, is the most effective configuration for generating </a:t>
            </a:r>
            <a:r>
              <a:rPr lang="en-US" b="1"/>
              <a:t>blueprint-style architectural floorplans</a:t>
            </a:r>
            <a:r>
              <a:rPr lang="en-US"/>
              <a:t>.</a:t>
            </a:r>
          </a:p>
          <a:p>
            <a:pPr marL="228600" marR="0" lvl="0" indent="-228600" fontAlgn="base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US"/>
              <a:t> It offers the best balance between </a:t>
            </a:r>
            <a:r>
              <a:rPr lang="en-US" b="1"/>
              <a:t>visual clarity, structural accuracy</a:t>
            </a:r>
            <a:r>
              <a:rPr lang="en-US"/>
              <a:t>, and </a:t>
            </a:r>
            <a:r>
              <a:rPr lang="en-US" b="1"/>
              <a:t>prompt alignment</a:t>
            </a:r>
            <a:r>
              <a:rPr lang="en-US"/>
              <a:t>, making it a strong candidate for AI-assisted architectural design tools.</a:t>
            </a:r>
          </a:p>
        </p:txBody>
      </p:sp>
    </p:spTree>
    <p:extLst>
      <p:ext uri="{BB962C8B-B14F-4D97-AF65-F5344CB8AC3E}">
        <p14:creationId xmlns:p14="http://schemas.microsoft.com/office/powerpoint/2010/main" val="2909225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A7840BA-99C9-3955-D54A-9D3FC46BA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Future SCOPE</a:t>
            </a:r>
          </a:p>
        </p:txBody>
      </p:sp>
      <p:sp>
        <p:nvSpPr>
          <p:cNvPr id="13" name="Table Placeholder 3">
            <a:extLst>
              <a:ext uri="{FF2B5EF4-FFF2-40B4-BE49-F238E27FC236}">
                <a16:creationId xmlns:a16="http://schemas.microsoft.com/office/drawing/2014/main" id="{42192982-0FFE-DBCB-5C57-270931B445AA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47040" y="1691323"/>
            <a:ext cx="10906760" cy="4431981"/>
          </a:xfrm>
        </p:spPr>
        <p:txBody>
          <a:bodyPr>
            <a:normAutofit/>
          </a:bodyPr>
          <a:lstStyle/>
          <a:p>
            <a:r>
              <a:rPr lang="en-US" b="1" dirty="0"/>
              <a:t>Fine-Tuning with Real Data:</a:t>
            </a:r>
            <a:r>
              <a:rPr lang="en-US" dirty="0"/>
              <a:t> Enhance model performance by fine-tuning on actual architectural floorplans using techniques like </a:t>
            </a:r>
            <a:r>
              <a:rPr lang="en-US" dirty="0" err="1"/>
              <a:t>LoRA</a:t>
            </a:r>
            <a:r>
              <a:rPr lang="en-US" dirty="0"/>
              <a:t> or </a:t>
            </a:r>
            <a:r>
              <a:rPr lang="en-US" dirty="0" err="1"/>
              <a:t>DreamBooth</a:t>
            </a:r>
            <a:r>
              <a:rPr lang="en-US" dirty="0"/>
              <a:t>.</a:t>
            </a:r>
          </a:p>
          <a:p>
            <a:r>
              <a:rPr lang="en-US" b="1" dirty="0"/>
              <a:t>Controlled Generation with ControlNet:</a:t>
            </a:r>
            <a:r>
              <a:rPr lang="en-US" dirty="0"/>
              <a:t> Guide layout generation using sketches, edge maps, or masks for greater accuracy and customization.</a:t>
            </a:r>
          </a:p>
          <a:p>
            <a:r>
              <a:rPr lang="en-US" b="1" dirty="0"/>
              <a:t>Integration with CAD/BIM Workflows:</a:t>
            </a:r>
            <a:r>
              <a:rPr lang="en-US" dirty="0"/>
              <a:t> Convert outputs into vector formats for seamless use in architectural design tools and professional planning systems.</a:t>
            </a:r>
          </a:p>
        </p:txBody>
      </p:sp>
    </p:spTree>
    <p:extLst>
      <p:ext uri="{BB962C8B-B14F-4D97-AF65-F5344CB8AC3E}">
        <p14:creationId xmlns:p14="http://schemas.microsoft.com/office/powerpoint/2010/main" val="2326424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37" y="400485"/>
            <a:ext cx="9467127" cy="25279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6613063-168A-02B8-4326-BB842F3B83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075" y="3738622"/>
            <a:ext cx="9467850" cy="2527911"/>
          </a:xfrm>
        </p:spPr>
        <p:txBody>
          <a:bodyPr/>
          <a:lstStyle/>
          <a:p>
            <a:r>
              <a:rPr lang="en-US" dirty="0"/>
              <a:t>ANY QUESTION?</a:t>
            </a:r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{2D88A181-350A-41A5-8DDB-19F4A519FEB8}tf55661986_win32</Template>
  <TotalTime>10213</TotalTime>
  <Words>1224</Words>
  <Application>Microsoft Office PowerPoint</Application>
  <PresentationFormat>Widescreen</PresentationFormat>
  <Paragraphs>181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Roboto</vt:lpstr>
      <vt:lpstr>Wingdings</vt:lpstr>
      <vt:lpstr>Custom</vt:lpstr>
      <vt:lpstr>Generating Architectural Floor Plans with Hugging Face Diffusers</vt:lpstr>
      <vt:lpstr>OBjective</vt:lpstr>
      <vt:lpstr>Introduction</vt:lpstr>
      <vt:lpstr>Conceptual Differences: GANs vs Diffusion Models</vt:lpstr>
      <vt:lpstr>Base Model Analysis: Stable Diffusion v1.5)</vt:lpstr>
      <vt:lpstr>Layout Generated by the model</vt:lpstr>
      <vt:lpstr>Layout generated by the model</vt:lpstr>
      <vt:lpstr>Results from Base Model</vt:lpstr>
      <vt:lpstr>Comparison using Stable Diffusion Models </vt:lpstr>
      <vt:lpstr>Evaluation for different models</vt:lpstr>
      <vt:lpstr>PowerPoint Presentation</vt:lpstr>
      <vt:lpstr>Comparing Schedulers</vt:lpstr>
      <vt:lpstr>PowerPoint Presentation</vt:lpstr>
      <vt:lpstr>Hyperparameter Tuning for Architectural Floorplans (SD 2.1 Base)</vt:lpstr>
      <vt:lpstr>KEY INSIGHTS post tuning</vt:lpstr>
      <vt:lpstr>Conclusion</vt:lpstr>
      <vt:lpstr>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Sonal Shreya</dc:creator>
  <cp:lastModifiedBy>Sonal Shreya</cp:lastModifiedBy>
  <cp:revision>4</cp:revision>
  <dcterms:created xsi:type="dcterms:W3CDTF">2025-03-10T21:11:32Z</dcterms:created>
  <dcterms:modified xsi:type="dcterms:W3CDTF">2025-04-28T16:47:40Z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